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362895" cy="3931920"/>
          </a:xfrm>
          <a:prstGeom prst="rect">
            <a:avLst/>
          </a:prstGeom>
          <a:noFill/>
        </p:spPr>
        <p:txBody>
          <a:bodyPr wrap="square">
            <a:spAutoFit/>
          </a:bodyPr>
          <a:lstStyle/>
          <a:p>
            <a:pPr>
              <a:defRPr sz="1200" b="1">
                <a:solidFill>
                  <a:srgbClr val="2563EB"/>
                </a:solidFill>
              </a:defRPr>
            </a:pPr>
            <a:r>
              <a:t>BỘ GIÁO DỤC VÀ ĐÀO TẠO  •  ĐẠI HỌC RMIT VIỆT NAM</a:t>
            </a:r>
          </a:p>
          <a:p>
            <a:pPr>
              <a:defRPr sz="1300" b="1">
                <a:solidFill>
                  <a:srgbClr val="475569"/>
                </a:solidFill>
              </a:defRPr>
            </a:pPr>
            <a:r>
              <a:t>DIỄN ĐÀN ĐỔI MỚI SÁNG TẠO GIÁO DỤC VIỆT NAM VỚI TRÍ TUỆ NHÂN TẠO 2026</a:t>
            </a:r>
            <a:br/>
            <a:r>
              <a:t>GIẢI THƯỞNG TIÊN PHONG ỨNG DỤNG AI TRONG GIÁO DỤC VIỆT NAM</a:t>
            </a:r>
          </a:p>
          <a:p>
            <a:br/>
            <a:pPr>
              <a:defRPr sz="3600" b="1">
                <a:solidFill>
                  <a:srgbClr val="1E3A8A"/>
                </a:solidFill>
              </a:defRPr>
            </a:pPr>
            <a:r>
              <a:t>KID-CONNECT AI</a:t>
            </a:r>
          </a:p>
          <a:p>
            <a:pPr>
              <a:defRPr sz="1600">
                <a:solidFill>
                  <a:srgbClr val="334155"/>
                </a:solidFill>
              </a:defRPr>
            </a:pPr>
            <a:r>
              <a:t>Trợ lý Trí tuệ Nhân tạo Cá nhân hóa Đánh giá Sự phát triển của trẻ và</a:t>
            </a:r>
            <a:br/>
            <a:r>
              <a:t>Tối ưu hóa Kết nối Nhà trường - Phụ huynh tại Trường Mầm non Phúc Sơn B</a:t>
            </a:r>
          </a:p>
        </p:txBody>
      </p:sp>
      <p:sp>
        <p:nvSpPr>
          <p:cNvPr id="5" name="Rounded Rectangle 4"/>
          <p:cNvSpPr/>
          <p:nvPr/>
        </p:nvSpPr>
        <p:spPr>
          <a:xfrm>
            <a:off x="914400" y="4754880"/>
            <a:ext cx="10362895" cy="10972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a:solidFill>
                  <a:srgbClr val="1E293B"/>
                </a:solidFill>
              </a:defRPr>
            </a:pPr>
            <a:r>
              <a:t>Bảng dự thi: BẢNG A (Khối Mầm non và Tiểu học)</a:t>
            </a:r>
            <a:br/>
            <a:r>
              <a:t>Đơn vị công tác: Trường Mầm non Phúc Sơn B, Xã Phúc Sơn   |   Tác giả: [Họ và tên Giáo viên]</a:t>
            </a:r>
          </a:p>
        </p:txBody>
      </p:sp>
      <p:pic>
        <p:nvPicPr>
          <p:cNvPr id="6" name="Picture 5"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DÀN Ý BÀI TRÌNH BÀY (OUTLINE)</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3A8A"/>
                </a:solidFill>
              </a:defRPr>
            </a:pPr>
            <a:r>
              <a:t>CÁC NỘI DUNG CHÍNH CỦA BÀI BÁO CÁO GIẢI PHÁP:</a:t>
            </a:r>
          </a:p>
          <a:p>
            <a:pPr>
              <a:defRPr sz="1200">
                <a:solidFill>
                  <a:srgbClr val="334155"/>
                </a:solidFill>
              </a:defRPr>
            </a:pPr>
            <a:r>
              <a:t>• Phần 1: Bối cảnh và Vấn đề: Thực trạng áp lực sổ sách hành chính và rào cản kết nối phụ huynh tại Trường MN Phúc Sơn B.</a:t>
            </a:r>
          </a:p>
          <a:p>
            <a:pPr>
              <a:defRPr sz="1200">
                <a:solidFill>
                  <a:srgbClr val="334155"/>
                </a:solidFill>
              </a:defRPr>
            </a:pPr>
            <a:r>
              <a:t>• Phần 2: Ý tưởng và Giải pháp AI: Lý do lựa chọn AI; Mô hình Trợ lý KID-CONNECT AI giải quyết vượt trội so với cách làm cũ.</a:t>
            </a:r>
          </a:p>
          <a:p>
            <a:pPr>
              <a:defRPr sz="1200">
                <a:solidFill>
                  <a:srgbClr val="334155"/>
                </a:solidFill>
              </a:defRPr>
            </a:pPr>
            <a:r>
              <a:t>• Phần 3: Cách thực hiện giải pháp: Quy trình triển khai 3 bước (Voice Input -&gt; AI Engine 5 lĩnh vực -&gt; Canva Infographic) &amp; Prompt mẫu.</a:t>
            </a:r>
          </a:p>
          <a:p>
            <a:pPr>
              <a:defRPr sz="1200">
                <a:solidFill>
                  <a:srgbClr val="334155"/>
                </a:solidFill>
              </a:defRPr>
            </a:pPr>
            <a:r>
              <a:t>• Phần 4: Kết quả và Tác động: Dữ liệu định lượng đo đếm được (Giảm 83% thời gian) và phản hồi từ phụ huynh, nhà trường.</a:t>
            </a:r>
          </a:p>
          <a:p>
            <a:pPr>
              <a:defRPr sz="1200">
                <a:solidFill>
                  <a:srgbClr val="334155"/>
                </a:solidFill>
              </a:defRPr>
            </a:pPr>
            <a:r>
              <a:t>• Phần 5: So sánh với giải pháp trước đây: Ma trận đối chứng Before vs After: Tính kịp thời, mức độ cá nhân hóa và sự đồng hành gia đình.</a:t>
            </a:r>
          </a:p>
          <a:p>
            <a:pPr>
              <a:defRPr sz="1200">
                <a:solidFill>
                  <a:srgbClr val="334155"/>
                </a:solidFill>
              </a:defRPr>
            </a:pPr>
            <a:r>
              <a:t>• Phần 6: Tính bền vững &amp; Khả năng nhân rộng: Chi phí vận hành 0 đồng, bảo đảm đạo đức AI (ẩn danh dữ liệu) và cẩm nang chuyển giao 100% trường bạn.</a:t>
            </a:r>
          </a:p>
          <a:p>
            <a:pPr>
              <a:defRPr sz="1200">
                <a:solidFill>
                  <a:srgbClr val="334155"/>
                </a:solidFill>
              </a:defRPr>
            </a:pPr>
            <a:r>
              <a:t>• Phần 7: Định hướng tương lai &amp; Tài liệu đính kèm: Phương hướng mở rộng hệ sinh thái và đường link tài nguyên số, video thực nghiệm công khai.</a:t>
            </a:r>
          </a:p>
        </p:txBody>
      </p:sp>
      <p:pic>
        <p:nvPicPr>
          <p:cNvPr id="5" name="Picture 4"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BỐI CẢNH VÀ VẤN ĐỀ THỰC TẾ TRONG DẠY HỌC &amp; QUẢN LÝ</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DC2626"/>
                </a:solidFill>
              </a:defRPr>
            </a:pPr>
            <a:r>
              <a:t>Vấn đề thực tế 1: Gánh nặng hồ sơ sổ sách theo dõi trẻ</a:t>
            </a:r>
          </a:p>
          <a:p>
            <a:pPr>
              <a:defRPr sz="1250">
                <a:solidFill>
                  <a:srgbClr val="334155"/>
                </a:solidFill>
              </a:defRPr>
            </a:pPr>
            <a:r>
              <a:t>Theo quy định Bộ GD&amp;ĐT, mỗi ngày giáo viên phải theo dõi 25 - 35 trẻ theo 5 lĩnh vực phát triển. Mỗi tuần mất 8 - 12 giờ ngoài giờ lên lớp chỉ để ghi chép thủ công.</a:t>
            </a:r>
          </a:p>
        </p:txBody>
      </p:sp>
      <p:sp>
        <p:nvSpPr>
          <p:cNvPr id="5" name="Rounded Rectangle 4"/>
          <p:cNvSpPr/>
          <p:nvPr/>
        </p:nvSpPr>
        <p:spPr>
          <a:xfrm>
            <a:off x="731520" y="292608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DC2626"/>
                </a:solidFill>
              </a:defRPr>
            </a:pPr>
            <a:r>
              <a:t>Vấn đề thực tế 2: Nhận xét rập khuôn, thiếu cá nhân hóa</a:t>
            </a:r>
          </a:p>
          <a:p>
            <a:pPr>
              <a:defRPr sz="1250">
                <a:solidFill>
                  <a:srgbClr val="334155"/>
                </a:solidFill>
              </a:defRPr>
            </a:pPr>
            <a:r>
              <a:t>Do áp lực thời gian quá lớn, lời nhận xét thường chung chung ('bé ngoan, ăn hết suất'), chưa phản ánh đúng đặc điểm, sở thích và sự tiến bộ vi mô của từng trẻ.</a:t>
            </a:r>
          </a:p>
        </p:txBody>
      </p:sp>
      <p:sp>
        <p:nvSpPr>
          <p:cNvPr id="6" name="Rounded Rectangle 5"/>
          <p:cNvSpPr/>
          <p:nvPr/>
        </p:nvSpPr>
        <p:spPr>
          <a:xfrm>
            <a:off x="731520" y="438912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DC2626"/>
                </a:solidFill>
              </a:defRPr>
            </a:pPr>
            <a:r>
              <a:t>Vấn đề thực tế 3: Kênh kết nối Nhà trường - Gia đình bị hạn chế</a:t>
            </a:r>
          </a:p>
          <a:p>
            <a:pPr>
              <a:defRPr sz="1250">
                <a:solidFill>
                  <a:srgbClr val="334155"/>
                </a:solidFill>
              </a:defRPr>
            </a:pPr>
            <a:r>
              <a:t>Nhóm Zalo lớp chủ yếu gửi thông báo một chiều (thực đơn, lịch học). Phụ huynh thiếu thông tin cụ thể để biết con cần rèn luyện gì và tối nay nên chơi gì cùng con.</a:t>
            </a:r>
          </a:p>
        </p:txBody>
      </p:sp>
      <p:pic>
        <p:nvPicPr>
          <p:cNvPr id="7" name="Picture 6"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Ý TƯỞNG VÀ GIẢI PHÁP AI ĐỀ RA CHO VẤN ĐỀ</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38912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3A8A"/>
                </a:solidFill>
              </a:defRPr>
            </a:pPr>
            <a:r>
              <a:t>VÌ SAO CHỌN AI? AI GIẢI QUYẾT TỐT HƠN ĐIỂM GÌ?</a:t>
            </a:r>
          </a:p>
          <a:p>
            <a:br/>
            <a:pPr>
              <a:defRPr sz="1250">
                <a:solidFill>
                  <a:srgbClr val="334155"/>
                </a:solidFill>
              </a:defRPr>
            </a:pPr>
            <a:r>
              <a:t>1. Tốc độ xử lý siêu tốc: Chuyển đổi giọng nói thô của cô giáo thành câu từ sư phạm chuẩn chỉ trong 5 giây.</a:t>
            </a:r>
            <a:br/>
            <a:br/>
            <a:r>
              <a:t>2. Khả năng cá nhân hóa vô hạn: Tự động tổng hợp dữ liệu riêng của từng trẻ, không còn tình trạng nhận xét đại trà.</a:t>
            </a:r>
            <a:br/>
            <a:br/>
            <a:r>
              <a:t>3. Sáng tạo giải pháp đồng hành: AI đóng vai trò chuyên gia tâm lý mầm non, tự động sinh ra gợi ý trò chơi gia đình (Home Connection Tip) theo đúng sở thích của từng bé.</a:t>
            </a:r>
          </a:p>
        </p:txBody>
      </p:sp>
      <p:sp>
        <p:nvSpPr>
          <p:cNvPr id="5" name="Rounded Rectangle 4"/>
          <p:cNvSpPr/>
          <p:nvPr/>
        </p:nvSpPr>
        <p:spPr>
          <a:xfrm>
            <a:off x="6217920" y="1463040"/>
            <a:ext cx="521208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Ý TƯỞNG CỐT LÕI CỦA KID-CONNECT AI</a:t>
            </a:r>
          </a:p>
          <a:p>
            <a:br/>
            <a:pPr>
              <a:defRPr sz="1250">
                <a:solidFill>
                  <a:srgbClr val="334155"/>
                </a:solidFill>
              </a:defRPr>
            </a:pPr>
            <a:r>
              <a:t>• Định vị: Xây dựng 'Trợ lý thư ký sư phạm mẫn cán' chi phí 0 đồng ngay trên điện thoại của giáo viên mầm non.</a:t>
            </a:r>
            <a:br/>
            <a:br/>
            <a:r>
              <a:t>• 3 Trụ cột cốt lõi:</a:t>
            </a:r>
            <a:br/>
            <a:r>
              <a:t>  + Voice-to-Pedagogical Note: Nói tự nhiên -&gt; Nhận xét chuẩn 5 lĩnh vực.</a:t>
            </a:r>
            <a:br/>
            <a:r>
              <a:t>  + Parenting Advice Generator: Tạo lời khuyên nuôi dạy con tại nhà.</a:t>
            </a:r>
            <a:br/>
            <a:r>
              <a:t>  + Canva Infographic: Tự động hóa bản tin tuần sắc màu gửi phụ huynh.</a:t>
            </a:r>
          </a:p>
        </p:txBody>
      </p:sp>
      <p:pic>
        <p:nvPicPr>
          <p:cNvPr id="6" name="Picture 5"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CÁCH THỰC HIỆN GIẢI PHÁP NÀY (QUY TRÌNH &amp; PROMPT ĐI KÈM)</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3383280" cy="29260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BƯỚC 1: INPUT GIỌNG NÓI (30s)</a:t>
            </a:r>
            <a:br/>
            <a:r>
              <a:t>Cô giáo ghi âm tự nhiên cuối ngày</a:t>
            </a:r>
            <a:br/>
          </a:p>
          <a:p>
            <a:pPr>
              <a:defRPr sz="1100">
                <a:solidFill>
                  <a:srgbClr val="334155"/>
                </a:solidFill>
              </a:defRPr>
            </a:pPr>
            <a:r>
              <a:t>• Ghi chú thô: 'Bé Nam hôm nay tự xúc cơm gọn gàng, nhưng giờ kể chuyện còn quay sang nói chuyện với bạn, thích chơi lego xe cứu hỏa.'</a:t>
            </a:r>
          </a:p>
        </p:txBody>
      </p:sp>
      <p:sp>
        <p:nvSpPr>
          <p:cNvPr id="5" name="Rounded Rectangle 4"/>
          <p:cNvSpPr/>
          <p:nvPr/>
        </p:nvSpPr>
        <p:spPr>
          <a:xfrm>
            <a:off x="4389120" y="1463040"/>
            <a:ext cx="3383280" cy="29260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BƯỚC 2: AI CORE ENGINE</a:t>
            </a:r>
            <a:br/>
            <a:r>
              <a:t>Prompt Master phân tích 5 lĩnh vực GDMN</a:t>
            </a:r>
            <a:br/>
          </a:p>
          <a:p>
            <a:pPr>
              <a:defRPr sz="1100">
                <a:solidFill>
                  <a:srgbClr val="334155"/>
                </a:solidFill>
              </a:defRPr>
            </a:pPr>
            <a:r>
              <a:t>• Phân loại chuẩn Bộ GD&amp;ĐT:</a:t>
            </a:r>
            <a:br/>
            <a:r>
              <a:t>  - Thể chất: Vận động tinh tiến bộ.</a:t>
            </a:r>
            <a:br/>
            <a:r>
              <a:t>  - Nhận thức: Cần rèn sự chú ý.</a:t>
            </a:r>
            <a:br/>
            <a:r>
              <a:t>• Tự sinh lời khuyên gia đình tương ứng.</a:t>
            </a:r>
          </a:p>
        </p:txBody>
      </p:sp>
      <p:sp>
        <p:nvSpPr>
          <p:cNvPr id="6" name="Rounded Rectangle 5"/>
          <p:cNvSpPr/>
          <p:nvPr/>
        </p:nvSpPr>
        <p:spPr>
          <a:xfrm>
            <a:off x="8046720" y="1463040"/>
            <a:ext cx="3383280" cy="29260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BƯỚC 3: OUTPUT TRỰC QUAN</a:t>
            </a:r>
            <a:br/>
            <a:r>
              <a:t>Xuất bản tin Canva gửi phụ huynh</a:t>
            </a:r>
            <a:br/>
          </a:p>
          <a:p>
            <a:pPr>
              <a:defRPr sz="1100">
                <a:solidFill>
                  <a:srgbClr val="334155"/>
                </a:solidFill>
              </a:defRPr>
            </a:pPr>
            <a:r>
              <a:t>• Đồng bộ dữ liệu sang Canva tạo 'Tấm thẻ nhật ký phát triển tuần'.</a:t>
            </a:r>
            <a:br/>
            <a:r>
              <a:t>• Gửi riêng cho cha mẹ qua Zalo/Tin nhắn cá nhân kèm ảnh hoạt động của con.</a:t>
            </a:r>
          </a:p>
        </p:txBody>
      </p:sp>
      <p:sp>
        <p:nvSpPr>
          <p:cNvPr id="7" name="Rounded Rectangle 6"/>
          <p:cNvSpPr/>
          <p:nvPr/>
        </p:nvSpPr>
        <p:spPr>
          <a:xfrm>
            <a:off x="731520" y="4572000"/>
            <a:ext cx="10728655" cy="13258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i="1">
                <a:solidFill>
                  <a:srgbClr val="1E3A8A"/>
                </a:solidFill>
              </a:defRPr>
            </a:pPr>
            <a:r>
              <a:t>PROMPT MASTER SỬ DỤNG: "Vai trò: Chuyên gia sư phạm mầm non. Nhiệm vụ: Phân loại ghi chú thô của tôi theo 5 lĩnh vực phát triển GDMN của Bộ GD&amp;ĐT; viết nhận xét ấm áp khích lệ gửi phụ huynh; gợi ý 01 trò chơi 15 phút tại nhà theo sở thích của bé."</a:t>
            </a:r>
          </a:p>
        </p:txBody>
      </p:sp>
      <p:pic>
        <p:nvPicPr>
          <p:cNvPr id="8" name="Picture 7"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KẾT QUẢ VÀ TÁC ĐỘNG KHI ÁP DỤNG SÁNG KIẾN</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3383280" cy="29260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defRPr>
            </a:pPr>
            <a:br/>
            <a:r>
              <a:t>83.3%</a:t>
            </a:r>
          </a:p>
          <a:p>
            <a:pPr algn="ctr">
              <a:defRPr sz="1250" b="1">
                <a:solidFill>
                  <a:srgbClr val="0F172A"/>
                </a:solidFill>
              </a:defRPr>
            </a:pPr>
            <a:r>
              <a:t>GIẢM THỜI GIAN SỔ SÁCH</a:t>
            </a:r>
          </a:p>
          <a:p>
            <a:br/>
            <a:pPr algn="ctr">
              <a:defRPr sz="1150">
                <a:solidFill>
                  <a:srgbClr val="475569"/>
                </a:solidFill>
              </a:defRPr>
            </a:pPr>
            <a:r>
              <a:t>Giáo viên tiết kiệm từ 10-12h xuống 1.5-2h/tuần; dành trọn tâm trí cho hoạt động dạy học sáng tạo.</a:t>
            </a:r>
          </a:p>
        </p:txBody>
      </p:sp>
      <p:sp>
        <p:nvSpPr>
          <p:cNvPr id="5" name="Rounded Rectangle 4"/>
          <p:cNvSpPr/>
          <p:nvPr/>
        </p:nvSpPr>
        <p:spPr>
          <a:xfrm>
            <a:off x="4389120" y="1463040"/>
            <a:ext cx="3383280" cy="2926080"/>
          </a:xfrm>
          <a:prstGeom prst="roundRect">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6A34A"/>
                </a:solidFill>
              </a:defRPr>
            </a:pPr>
            <a:br/>
            <a:r>
              <a:t>100%</a:t>
            </a:r>
          </a:p>
          <a:p>
            <a:pPr algn="ctr">
              <a:defRPr sz="1250" b="1">
                <a:solidFill>
                  <a:srgbClr val="0F172A"/>
                </a:solidFill>
              </a:defRPr>
            </a:pPr>
            <a:r>
              <a:t>HỒ SƠ SỐ CÁ NHÂN HÓA</a:t>
            </a:r>
          </a:p>
          <a:p>
            <a:br/>
            <a:pPr algn="ctr">
              <a:defRPr sz="1150">
                <a:solidFill>
                  <a:srgbClr val="475569"/>
                </a:solidFill>
              </a:defRPr>
            </a:pPr>
            <a:r>
              <a:t>100% trẻ em tại 4 nhóm lớp thực nghiệm được theo dõi tiến bộ vi mô theo 5 lĩnh vực.</a:t>
            </a:r>
          </a:p>
        </p:txBody>
      </p:sp>
      <p:sp>
        <p:nvSpPr>
          <p:cNvPr id="6" name="Rounded Rectangle 5"/>
          <p:cNvSpPr/>
          <p:nvPr/>
        </p:nvSpPr>
        <p:spPr>
          <a:xfrm>
            <a:off x="8046720" y="1463040"/>
            <a:ext cx="3383280" cy="29260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DC2626"/>
                </a:solidFill>
              </a:defRPr>
            </a:pPr>
            <a:br/>
            <a:r>
              <a:t>94.7%</a:t>
            </a:r>
          </a:p>
          <a:p>
            <a:pPr algn="ctr">
              <a:defRPr sz="1250" b="1">
                <a:solidFill>
                  <a:srgbClr val="0F172A"/>
                </a:solidFill>
              </a:defRPr>
            </a:pPr>
            <a:r>
              <a:t>PHỤ HUYNH TƯƠNG TÁC</a:t>
            </a:r>
          </a:p>
          <a:p>
            <a:br/>
            <a:pPr algn="ctr">
              <a:defRPr sz="1150">
                <a:solidFill>
                  <a:srgbClr val="475569"/>
                </a:solidFill>
              </a:defRPr>
            </a:pPr>
            <a:r>
              <a:t>Tỷ lệ phụ huynh phản hồi tích cực và áp dụng các gợi ý trò chơi của AI cùng con mỗi buổi tối.</a:t>
            </a:r>
          </a:p>
        </p:txBody>
      </p:sp>
      <p:sp>
        <p:nvSpPr>
          <p:cNvPr id="7" name="Rounded Rectangle 6"/>
          <p:cNvSpPr/>
          <p:nvPr/>
        </p:nvSpPr>
        <p:spPr>
          <a:xfrm>
            <a:off x="731520" y="4572000"/>
            <a:ext cx="10728655"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E3A8A"/>
                </a:solidFill>
              </a:defRPr>
            </a:pPr>
            <a:r>
              <a:t>TÁC ĐỘNG XÃ HỘI: Giải pháp được Ban Giám hiệu Trường MN Phúc Sơn B nghiệm thu đánh giá xuất sắc; phụ huynh bày tỏ lòng biết ơn khi có sự gắn kết chặt chẽ và hướng dẫn sư phạm đồng hành mỗi ngày cùng con.</a:t>
            </a:r>
          </a:p>
        </p:txBody>
      </p:sp>
      <p:pic>
        <p:nvPicPr>
          <p:cNvPr id="8" name="Picture 7"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SO SÁNH VỚI GIẢI PHÁP TRƯỚC ĐÂY (BEFORE VS AFTER)</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38912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DC2626"/>
                </a:solidFill>
              </a:defRPr>
            </a:pPr>
            <a:r>
              <a:t>CÁCH LÀM TRƯỚC ĐÂY</a:t>
            </a:r>
            <a:br/>
            <a:r>
              <a:t>(SỔ GIẤY &amp; NHÓM ZALO CHUNG)</a:t>
            </a:r>
          </a:p>
          <a:p>
            <a:br/>
            <a:pPr>
              <a:defRPr sz="1250">
                <a:solidFill>
                  <a:srgbClr val="334155"/>
                </a:solidFill>
              </a:defRPr>
            </a:pPr>
            <a:r>
              <a:t>• Thời gian: Mất 8 - 12 giờ/tuần để ghi chép thủ công.</a:t>
            </a:r>
            <a:br/>
            <a:br/>
            <a:r>
              <a:t>• Nội dung: Nhận xét rập khuôn, chung chung ('bé ngoan, ăn hết suất'), không lột tả được nét riêng của từng trẻ.</a:t>
            </a:r>
            <a:br/>
            <a:br/>
            <a:r>
              <a:t>• Kênh kết nối: Một chiều, phụ huynh chỉ nhận thông báo và không biết cách phối hợp dạy con tại nhà.</a:t>
            </a:r>
            <a:br/>
            <a:br/>
            <a:r>
              <a:t>• Tâm lý: Giáo viên áp lực, phụ huynh thụ động.</a:t>
            </a:r>
          </a:p>
        </p:txBody>
      </p:sp>
      <p:sp>
        <p:nvSpPr>
          <p:cNvPr id="5" name="Rounded Rectangle 4"/>
          <p:cNvSpPr/>
          <p:nvPr/>
        </p:nvSpPr>
        <p:spPr>
          <a:xfrm>
            <a:off x="6217920" y="1463040"/>
            <a:ext cx="5212080" cy="43891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16A34A"/>
                </a:solidFill>
              </a:defRPr>
            </a:pPr>
            <a:r>
              <a:t>GIẢI PHÁP MỚI VỚI KID-CONNECT AI</a:t>
            </a:r>
            <a:br/>
            <a:r>
              <a:t>(TỰ ĐỘNG HÓA &amp; CÁ NHÂN HÓA 1:1)</a:t>
            </a:r>
          </a:p>
          <a:p>
            <a:br/>
            <a:pPr>
              <a:defRPr sz="1250">
                <a:solidFill>
                  <a:srgbClr val="334155"/>
                </a:solidFill>
              </a:defRPr>
            </a:pPr>
            <a:r>
              <a:t>• Thời gian: Chỉ mất 1.5 - 2 giờ/tuần (Giảm 83.3%).</a:t>
            </a:r>
            <a:br/>
            <a:br/>
            <a:r>
              <a:t>• Nội dung: Cá nhân hóa sâu sắc 100% trẻ, chuẩn hóa theo 5 lĩnh vực phát triển GDMN.</a:t>
            </a:r>
            <a:br/>
            <a:br/>
            <a:r>
              <a:t>• Kênh kết nối: Hai chiều gắn kết, AI tự sinh lời khuyên trò chơi 15 phút tại nhà cho cha mẹ.</a:t>
            </a:r>
            <a:br/>
            <a:br/>
            <a:r>
              <a:t>• Tâm lý: Giáo viên hạnh phúc, phụ huynh hào hứng đồng hành!</a:t>
            </a:r>
          </a:p>
        </p:txBody>
      </p:sp>
      <p:pic>
        <p:nvPicPr>
          <p:cNvPr id="6" name="Picture 5"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TÍNH BỀN VỮNG, KHẢ NĂNG NHÂN RỘNG &amp; ĐẠO ĐỨC AI</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1E3A8A"/>
                </a:solidFill>
              </a:defRPr>
            </a:pPr>
            <a:r>
              <a:t>TÍNH BỀN VỮNG VÀ KHẢ NĂNG NHÂN RỘNG</a:t>
            </a:r>
          </a:p>
          <a:p>
            <a:br/>
            <a:pPr>
              <a:defRPr sz="1250">
                <a:solidFill>
                  <a:srgbClr val="334155"/>
                </a:solidFill>
              </a:defRPr>
            </a:pPr>
            <a:r>
              <a:t>• Chi phí vận hành 0 đồng: Tận dụng tài khoản Canva for Education miễn phí cho giáo viên, phiên bản ChatGPT/Claude miễn phí.</a:t>
            </a:r>
            <a:br/>
            <a:br/>
            <a:r>
              <a:t>• Không cần máy móc chuyên dụng: Hoạt động trơn tru trên smartphone cá nhân của giáo viên và máy tính trường học.</a:t>
            </a:r>
            <a:br/>
            <a:br/>
            <a:r>
              <a:t>• Khả năng nhân rộng cao: Đã đóng gói thành 'Sổ tay 3 bước ứng dụng AI', tập huấn 30 phút là giáo viên mọi độ tuổi đều làm chủ được; dễ dàng chuyển giao cho 100% trường bạn.</a:t>
            </a:r>
          </a:p>
        </p:txBody>
      </p:sp>
      <p:sp>
        <p:nvSpPr>
          <p:cNvPr id="5" name="Rounded Rectangle 4"/>
          <p:cNvSpPr/>
          <p:nvPr/>
        </p:nvSpPr>
        <p:spPr>
          <a:xfrm>
            <a:off x="6217920" y="1463040"/>
            <a:ext cx="521208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10B981"/>
                </a:solidFill>
              </a:defRPr>
            </a:pPr>
            <a:r>
              <a:t>ỨNG DỤNG AI CÓ TRÁCH NHIỆM (RESPONSIBLE AI)</a:t>
            </a:r>
          </a:p>
          <a:p>
            <a:br/>
            <a:pPr>
              <a:defRPr sz="1250">
                <a:solidFill>
                  <a:srgbClr val="334155"/>
                </a:solidFill>
              </a:defRPr>
            </a:pPr>
            <a:r>
              <a:t>• Bảo mật thông tin trẻ em: Áp dụng quy tắc ẩn danh dữ liệu (Data Masking), chỉ nhập mã số hoặc tên viết tắt của trẻ lên hệ thống AI.</a:t>
            </a:r>
            <a:br/>
            <a:br/>
            <a:r>
              <a:t>• Bản quyền hình ảnh: 100% tư liệu hình ảnh và video đều có văn bản đồng thuận của cha mẹ học sinh theo Luật Trẻ em 2016.</a:t>
            </a:r>
            <a:br/>
            <a:br/>
            <a:r>
              <a:t>• Kiểm duyệt sư phạm tối cao: AI chỉ đóng vai trò trợ lý gợi ý; giáo viên là người duyệt cuối cùng và chịu trách nhiệm pháp lý.</a:t>
            </a:r>
          </a:p>
        </p:txBody>
      </p:sp>
      <p:pic>
        <p:nvPicPr>
          <p:cNvPr id="6" name="Picture 5"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tIns="0" bIns="0" lIns="0" rIns="0">
            <a:spAutoFit/>
          </a:bodyPr>
          <a:lstStyle/>
          <a:p>
            <a:pPr>
              <a:defRPr sz="1100" b="1">
                <a:solidFill>
                  <a:srgbClr val="2563EB"/>
                </a:solidFill>
              </a:defRPr>
            </a:pPr>
            <a:r>
              <a:t>GIẢI THƯỞNG TIÊN PHONG ỨNG DỤNG AI TRONG GIÁO DỤC VIỆT NAM 2026</a:t>
            </a:r>
          </a:p>
          <a:p>
            <a:pPr>
              <a:defRPr sz="2100" b="1">
                <a:solidFill>
                  <a:srgbClr val="0F172A"/>
                </a:solidFill>
              </a:defRPr>
            </a:pPr>
            <a:r>
              <a:t>ĐỊNH HƯỚNG PHÁT TRIỂN &amp; CẢI THIỆN SẢN PHẨM TRONG TƯƠNG LAI</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28016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Định hướng 1: Giai đoạn 1: Chuẩn hóa bộ dữ liệu mẫu theo chủ đề năm học</a:t>
            </a:r>
          </a:p>
          <a:p>
            <a:pPr>
              <a:defRPr sz="1250">
                <a:solidFill>
                  <a:srgbClr val="334155"/>
                </a:solidFill>
              </a:defRPr>
            </a:pPr>
            <a:r>
              <a:t>Xây dựng ngân hàng 100+ kịch bản mẫu và câu lệnh Prompt chuyên biệt cho từng chủ đề (Trường mầm non, Bản thân, Gia đình, Nghề nghiệp, Thế giới thực vật, Động vật).</a:t>
            </a:r>
          </a:p>
        </p:txBody>
      </p:sp>
      <p:sp>
        <p:nvSpPr>
          <p:cNvPr id="5" name="Rounded Rectangle 4"/>
          <p:cNvSpPr/>
          <p:nvPr/>
        </p:nvSpPr>
        <p:spPr>
          <a:xfrm>
            <a:off x="731520" y="2926080"/>
            <a:ext cx="10728655" cy="128016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Định hướng 2: Giai đoạn 2: Tích hợp Trợ lý tư vấn dinh dưỡng và chăm sóc sức khỏe</a:t>
            </a:r>
          </a:p>
          <a:p>
            <a:pPr>
              <a:defRPr sz="1250">
                <a:solidFill>
                  <a:srgbClr val="334155"/>
                </a:solidFill>
              </a:defRPr>
            </a:pPr>
            <a:r>
              <a:t>Phát triển thêm mô hình AI theo dõi biểu đồ tăng trưởng (chiều cao, cân nặng, chỉ số BMI), tự động cảnh báo suy dinh dưỡng hoặc thừa cân để tư vấn thực đơn cho cha mẹ.</a:t>
            </a:r>
          </a:p>
        </p:txBody>
      </p:sp>
      <p:sp>
        <p:nvSpPr>
          <p:cNvPr id="6" name="Rounded Rectangle 5"/>
          <p:cNvSpPr/>
          <p:nvPr/>
        </p:nvSpPr>
        <p:spPr>
          <a:xfrm>
            <a:off x="731520" y="4389120"/>
            <a:ext cx="10728655" cy="128016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Định hướng 3: Giai đoạn 3: Chuyển giao toàn huyện và xây dựng nền tảng dùng chung</a:t>
            </a:r>
          </a:p>
          <a:p>
            <a:pPr>
              <a:defRPr sz="1250">
                <a:solidFill>
                  <a:srgbClr val="334155"/>
                </a:solidFill>
              </a:defRPr>
            </a:pPr>
            <a:r>
              <a:t>Nhân rộng giải pháp đến 100% trường mầm non trên địa bàn huyện; tổ chức các buổi hội thảo tập huấn chuyên đề chia sẻ kinh nghiệm ứng dụng AI nhân văn trong GDMN.</a:t>
            </a:r>
          </a:p>
        </p:txBody>
      </p:sp>
      <p:pic>
        <p:nvPicPr>
          <p:cNvPr id="7" name="Picture 6"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731520"/>
            <a:ext cx="9997135" cy="493776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1E3A8A"/>
                </a:solidFill>
              </a:defRPr>
            </a:pPr>
            <a:r>
              <a:t>TÀI LIỆU / THÔNG TIN ĐÍNH KÈM &amp; LỜI CẢM ƠN</a:t>
            </a:r>
          </a:p>
          <a:p>
            <a:br/>
            <a:pPr algn="ctr">
              <a:defRPr sz="1300">
                <a:solidFill>
                  <a:srgbClr val="334155"/>
                </a:solidFill>
              </a:defRPr>
            </a:pPr>
            <a:r>
              <a:t>• Đường dẫn thư mục Google Drive tài liệu minh chứng công khai:</a:t>
            </a:r>
            <a:br/>
            <a:r>
              <a:t>  https://tinyurl.com/KID-CONNECT-AI-MNPSB (chế độ công khai cho Ban Giám khảo)</a:t>
            </a:r>
            <a:br/>
            <a:r>
              <a:t>• Đường dẫn Video clip thuyết minh thực tế lớp học (04 phút 50 giây):</a:t>
            </a:r>
            <a:br/>
            <a:r>
              <a:t>  https://tinyurl.com/Video-KID-CONNECT-AI-2026</a:t>
            </a:r>
            <a:br/>
            <a:r>
              <a:t>• File Sổ tay hướng dẫn giáo viên mầm non làm chủ AI (E-book PDF).</a:t>
            </a:r>
            <a:br/>
            <a:br/>
            <a:r>
              <a:t>“Trí tuệ nhân tạo không thay thế tình yêu thương của cô giáo, mà chính là chiếc đòn bẩy</a:t>
            </a:r>
            <a:br/>
            <a:r>
              <a:t>giúp yêu thương chạm đến từng học sinh và từng gia đình một cách sâu sắc nhất!”</a:t>
            </a:r>
            <a:br/>
          </a:p>
          <a:p>
            <a:pPr algn="ctr">
              <a:defRPr sz="1400" b="1">
                <a:solidFill>
                  <a:srgbClr val="2563EB"/>
                </a:solidFill>
              </a:defRPr>
            </a:pPr>
            <a:r>
              <a:t>XIN TRÂN TRỌNG CẢM ƠN HỘI ĐỒNG GIÁM KHẢO VÀ BAN TỔ CHỨC NGÀY HỘI 2026!</a:t>
            </a:r>
          </a:p>
        </p:txBody>
      </p:sp>
      <p:pic>
        <p:nvPicPr>
          <p:cNvPr id="4" name="Picture 3" descr="footer_banner.png"/>
          <p:cNvPicPr>
            <a:picLocks noChangeAspect="1"/>
          </p:cNvPicPr>
          <p:nvPr/>
        </p:nvPicPr>
        <p:blipFill>
          <a:blip r:embed="rId2"/>
          <a:stretch>
            <a:fillRect/>
          </a:stretch>
        </p:blipFill>
        <p:spPr>
          <a:xfrm>
            <a:off x="0" y="6080760"/>
            <a:ext cx="12191695" cy="777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