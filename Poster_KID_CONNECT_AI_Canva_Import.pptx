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9456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945600" cy="329184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20482560" cy="3931920"/>
          </a:xfrm>
          <a:prstGeom prst="roundRect">
            <a:avLst/>
          </a:prstGeom>
          <a:solidFill>
            <a:srgbClr val="0F172A"/>
          </a:solidFill>
          <a:ln w="381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274320" bIns="274320"/>
          <a:lstStyle/>
          <a:p>
            <a:pPr algn="ctr">
              <a:spcAft>
                <a:spcPts val="800"/>
              </a:spcAft>
              <a:defRPr sz="1500" b="1">
                <a:solidFill>
                  <a:srgbClr val="F59E0B"/>
                </a:solidFill>
                <a:latin typeface="Arial"/>
              </a:defRPr>
            </a:pPr>
            <a:r>
              <a:t>DIỄN ĐÀN ĐỔI MỚI SÁNG TẠO GIÁO DỤC VIỆT NAM VỚI TRÍ TUỆ NHÂN TẠO 2026  •  BỘ GD&amp;ĐT &amp; ĐẠI HỌC RMIT</a:t>
            </a:r>
          </a:p>
          <a:p>
            <a:pPr algn="ctr">
              <a:spcAft>
                <a:spcPts val="1000"/>
              </a:spcAft>
              <a:defRPr sz="2800" b="1">
                <a:solidFill>
                  <a:srgbClr val="FFFFFF"/>
                </a:solidFill>
                <a:latin typeface="Arial"/>
              </a:defRPr>
            </a:pPr>
            <a:r>
              <a:t>KID-CONNECT AI: TRỢ LÝ TRÍ TUỆ NHÂN TẠO CÁ NHÂN HÓA ĐÁNH GIÁ TRẺ</a:t>
            </a:r>
            <a:br/>
            <a:r>
              <a:t>VÀ TỐI ƯU HÓA KẾT NỐI NHÀ TRƯỜNG - GIA ĐÌNH</a:t>
            </a:r>
          </a:p>
          <a:p>
            <a:pPr algn="ctr">
              <a:spcAft>
                <a:spcPts val="800"/>
              </a:spcAft>
              <a:defRPr sz="1700" i="1">
                <a:solidFill>
                  <a:srgbClr val="0284C7"/>
                </a:solidFill>
                <a:latin typeface="Arial"/>
              </a:defRPr>
            </a:pPr>
            <a:r>
              <a:t>★ Khẩu hiệu: Công nghệ nâng bước yêu thương — Cá nhân hóa hành trình lớn khôn của bé ★</a:t>
            </a:r>
          </a:p>
          <a:p>
            <a:pPr algn="ctr">
              <a:defRPr sz="1400" b="1">
                <a:solidFill>
                  <a:srgbClr val="CBD5E1"/>
                </a:solidFill>
                <a:latin typeface="Arial"/>
              </a:defRPr>
            </a:pPr>
            <a:r>
              <a:t>BẢNG A (MẦM NON &amp; TIỂU HỌC)  |  ĐƠN VỊ: TRƯỜNG MẦM NON PHÚC SƠN B - XÃ PHÚC SƠN  |  TÁC GIẢ: GIÁO VIÊN CHỦ TRÌ</a:t>
            </a:r>
          </a:p>
        </p:txBody>
      </p:sp>
      <p:sp>
        <p:nvSpPr>
          <p:cNvPr id="4" name="Rounded Rectangle 3"/>
          <p:cNvSpPr/>
          <p:nvPr/>
        </p:nvSpPr>
        <p:spPr>
          <a:xfrm>
            <a:off x="731520" y="4937760"/>
            <a:ext cx="6519672" cy="25054560"/>
          </a:xfrm>
          <a:prstGeom prst="roundRect">
            <a:avLst/>
          </a:prstGeom>
          <a:solidFill>
            <a:srgbClr val="FFFFFF"/>
          </a:solidFill>
          <a:ln w="317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4937760"/>
            <a:ext cx="6519672" cy="118872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FFFFFF"/>
                </a:solidFill>
                <a:latin typeface="Arial"/>
              </a:defRPr>
            </a:pPr>
            <a:r>
              <a:t>1. BỐI CẢNH &amp; NỖI ĐAU THỰC TẾ</a:t>
            </a:r>
          </a:p>
          <a:p>
            <a:pPr>
              <a:defRPr sz="1200">
                <a:solidFill>
                  <a:srgbClr val="F1F5F9"/>
                </a:solidFill>
                <a:latin typeface="Arial"/>
              </a:defRPr>
            </a:pPr>
            <a:r>
              <a:t>Thực trạng tại cơ sở &amp; 3 Điểm nghẽn cấp bách</a:t>
            </a:r>
          </a:p>
        </p:txBody>
      </p:sp>
      <p:sp>
        <p:nvSpPr>
          <p:cNvPr id="6" name="TextBox 5"/>
          <p:cNvSpPr txBox="1"/>
          <p:nvPr/>
        </p:nvSpPr>
        <p:spPr>
          <a:xfrm>
            <a:off x="960120" y="6217920"/>
            <a:ext cx="6062472" cy="23591520"/>
          </a:xfrm>
          <a:prstGeom prst="rect">
            <a:avLst/>
          </a:prstGeom>
          <a:noFill/>
        </p:spPr>
        <p:txBody>
          <a:bodyPr wrap="square" lIns="0" rIns="0" tIns="0" bIns="0">
            <a:spAutoFit/>
          </a:bodyPr>
          <a:lstStyle/>
          <a:p>
            <a:pPr>
              <a:spcAft>
                <a:spcPts val="400"/>
              </a:spcAft>
              <a:defRPr b="1" sz="1500">
                <a:solidFill>
                  <a:srgbClr val="1E3A8A"/>
                </a:solidFill>
              </a:defRPr>
            </a:pPr>
            <a:r>
              <a:t>📍 THỰC TRẠNG CẤP THIẾT TẠI CƠ SỞ:</a:t>
            </a:r>
          </a:p>
          <a:p>
            <a:pPr>
              <a:spcAft>
                <a:spcPts val="1200"/>
              </a:spcAft>
              <a:defRPr sz="1300">
                <a:solidFill>
                  <a:srgbClr val="1E293B"/>
                </a:solidFill>
              </a:defRPr>
            </a:pPr>
            <a:r>
              <a:t>• Trường Mầm non Phúc Sơn B có hơn 100 học sinh phân bổ tại 4 khối lớp thuộc xã miền núi khó khăn.</a:t>
            </a:r>
            <a:br/>
            <a:r>
              <a:t>• Quy định Bộ GD&amp;ĐT: Giáo viên phải theo dõi liên tục 5 lĩnh vực phát triển: Thể chất, Nhận thức, Ngôn ngữ, TC-KNXH, Thẩm mỹ.</a:t>
            </a:r>
            <a:br/>
            <a:r>
              <a:t>• Sĩ số 25 - 35 trẻ/lớp dẫn đến khối lượng đánh giá định tính khổng lồ.</a:t>
            </a:r>
          </a:p>
          <a:p>
            <a:pPr>
              <a:spcAft>
                <a:spcPts val="600"/>
              </a:spcAft>
              <a:defRPr b="1" sz="1500">
                <a:solidFill>
                  <a:srgbClr val="E11D48"/>
                </a:solidFill>
              </a:defRPr>
            </a:pPr>
            <a:r>
              <a:t>⚡ 3 ĐIỂM NGHẼN LỚN CỦA GIÁO VIÊN:</a:t>
            </a:r>
          </a:p>
          <a:p>
            <a:pPr>
              <a:defRPr b="1" sz="1350">
                <a:solidFill>
                  <a:srgbClr val="1E3A8A"/>
                </a:solidFill>
              </a:defRPr>
            </a:pPr>
            <a:r>
              <a:t>1. Quá tải sổ sách hành chính:</a:t>
            </a:r>
          </a:p>
          <a:p>
            <a:pPr>
              <a:spcAft>
                <a:spcPts val="800"/>
              </a:spcAft>
              <a:defRPr sz="1250">
                <a:solidFill>
                  <a:srgbClr val="1E293B"/>
                </a:solidFill>
              </a:defRPr>
            </a:pPr>
            <a:r>
              <a:t>Giáo viên mất 8 - 12 giờ/tuần ngoài giờ lên lớp chỉ để ghi chép hồ sơ, sổ theo dõi thủ công. Áp lực kéo dài gây kiệt sức và giảm giờ chuẩn bị đồ dùng dạy học.</a:t>
            </a:r>
          </a:p>
          <a:p>
            <a:pPr>
              <a:defRPr b="1" sz="1350">
                <a:solidFill>
                  <a:srgbClr val="1E3A8A"/>
                </a:solidFill>
              </a:defRPr>
            </a:pPr>
            <a:r>
              <a:t>2. Nhận xét rập khuôn, chiếu lệ:</a:t>
            </a:r>
          </a:p>
          <a:p>
            <a:pPr>
              <a:spcAft>
                <a:spcPts val="800"/>
              </a:spcAft>
              <a:defRPr sz="1250">
                <a:solidFill>
                  <a:srgbClr val="1E293B"/>
                </a:solidFill>
              </a:defRPr>
            </a:pPr>
            <a:r>
              <a:t>Vì quá tải, lời nhận xét dễ rơi vào chung chung ('bé ngoan, ăn hết suất'), chưa phản ánh đúng sở thích, điểm mạnh và tiến bộ vi mô của từng em.</a:t>
            </a:r>
          </a:p>
          <a:p>
            <a:pPr>
              <a:defRPr b="1" sz="1350">
                <a:solidFill>
                  <a:srgbClr val="1E3A8A"/>
                </a:solidFill>
              </a:defRPr>
            </a:pPr>
            <a:r>
              <a:t>3. Giao tiếp một chiều qua Zalo:</a:t>
            </a:r>
          </a:p>
          <a:p>
            <a:pPr>
              <a:spcAft>
                <a:spcPts val="800"/>
              </a:spcAft>
              <a:defRPr sz="1250">
                <a:solidFill>
                  <a:srgbClr val="1E293B"/>
                </a:solidFill>
              </a:defRPr>
            </a:pPr>
            <a:r>
              <a:t>Kênh nhóm lớp dễ trôi thông tin, thiếu tính riêng tư và chưa cung cấp chỉ dẫn sư phạm cụ thể để phụ huynh đồng hành cùng con tại nhà.</a:t>
            </a:r>
          </a:p>
          <a:p>
            <a:pPr>
              <a:spcAft>
                <a:spcPts val="600"/>
              </a:spcAft>
              <a:defRPr b="1" sz="1500">
                <a:solidFill>
                  <a:srgbClr val="10B981"/>
                </a:solidFill>
              </a:defRPr>
            </a:pPr>
            <a:r>
              <a:t>🎯 MỤC TIÊU ĐỘT PHÁ CỦA DỰ ÁN:</a:t>
            </a:r>
          </a:p>
          <a:p>
            <a:pPr>
              <a:spcAft>
                <a:spcPts val="400"/>
              </a:spcAft>
              <a:defRPr b="1" sz="1300">
                <a:solidFill>
                  <a:srgbClr val="1E3A8A"/>
                </a:solidFill>
              </a:defRPr>
            </a:pPr>
            <a:r>
              <a:t>✓ Cắt giảm 80% thời gian sổ sách (từ 12h xuống 2h/tuần).</a:t>
            </a:r>
          </a:p>
          <a:p>
            <a:pPr>
              <a:spcAft>
                <a:spcPts val="400"/>
              </a:spcAft>
              <a:defRPr b="1" sz="1300">
                <a:solidFill>
                  <a:srgbClr val="1E3A8A"/>
                </a:solidFill>
              </a:defRPr>
            </a:pPr>
            <a:r>
              <a:t>✓ Cá nhân hóa 100% hồ sơ tiến bộ số cho toàn bộ trẻ.</a:t>
            </a:r>
          </a:p>
          <a:p>
            <a:pPr>
              <a:spcAft>
                <a:spcPts val="400"/>
              </a:spcAft>
              <a:defRPr b="1" sz="1300">
                <a:solidFill>
                  <a:srgbClr val="1E3A8A"/>
                </a:solidFill>
              </a:defRPr>
            </a:pPr>
            <a:r>
              <a:t>✓ Kiến tạo kênh đồng hành 2 chiều bền vững Gia đình - Nhà trường.</a:t>
            </a:r>
          </a:p>
          <a:p>
            <a:pPr>
              <a:spcAft>
                <a:spcPts val="400"/>
              </a:spcAft>
              <a:defRPr b="1" sz="1300">
                <a:solidFill>
                  <a:srgbClr val="1E3A8A"/>
                </a:solidFill>
              </a:defRPr>
            </a:pPr>
            <a:r>
              <a:t>✓ Vận hành mượt mà trên điện thoại di động với chi phí 0 đồng.</a:t>
            </a:r>
          </a:p>
        </p:txBody>
      </p:sp>
      <p:sp>
        <p:nvSpPr>
          <p:cNvPr id="7" name="Rounded Rectangle 6"/>
          <p:cNvSpPr/>
          <p:nvPr/>
        </p:nvSpPr>
        <p:spPr>
          <a:xfrm>
            <a:off x="7708392" y="4937760"/>
            <a:ext cx="6519672" cy="25054560"/>
          </a:xfrm>
          <a:prstGeom prst="roundRect">
            <a:avLst/>
          </a:prstGeom>
          <a:solidFill>
            <a:srgbClr val="FFFFFF"/>
          </a:solidFill>
          <a:ln w="317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08392" y="4937760"/>
            <a:ext cx="6519672" cy="11887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FFFFFF"/>
                </a:solidFill>
                <a:latin typeface="Arial"/>
              </a:defRPr>
            </a:pPr>
            <a:r>
              <a:t>2. GIẢI PHÁP KỸ THUẬT &amp; QUY TRÌNH</a:t>
            </a:r>
          </a:p>
          <a:p>
            <a:pPr>
              <a:defRPr sz="1200">
                <a:solidFill>
                  <a:srgbClr val="F1F5F9"/>
                </a:solidFill>
                <a:latin typeface="Arial"/>
              </a:defRPr>
            </a:pPr>
            <a:r>
              <a:t>Hệ thống KID-CONNECT AI &amp; Quy trình 3 bước</a:t>
            </a:r>
          </a:p>
        </p:txBody>
      </p:sp>
      <p:pic>
        <p:nvPicPr>
          <p:cNvPr id="9" name="Picture 8" descr="poster_hero_illustration.jpg"/>
          <p:cNvPicPr>
            <a:picLocks noChangeAspect="1"/>
          </p:cNvPicPr>
          <p:nvPr/>
        </p:nvPicPr>
        <p:blipFill>
          <a:blip r:embed="rId2"/>
          <a:stretch>
            <a:fillRect/>
          </a:stretch>
        </p:blipFill>
        <p:spPr>
          <a:xfrm>
            <a:off x="7936992" y="6217920"/>
            <a:ext cx="6062472" cy="5669280"/>
          </a:xfrm>
          <a:prstGeom prst="rect">
            <a:avLst/>
          </a:prstGeom>
        </p:spPr>
      </p:pic>
      <p:sp>
        <p:nvSpPr>
          <p:cNvPr id="10" name="TextBox 9"/>
          <p:cNvSpPr txBox="1"/>
          <p:nvPr/>
        </p:nvSpPr>
        <p:spPr>
          <a:xfrm>
            <a:off x="7936992" y="12024360"/>
            <a:ext cx="6062472" cy="17739360"/>
          </a:xfrm>
          <a:prstGeom prst="rect">
            <a:avLst/>
          </a:prstGeom>
          <a:noFill/>
        </p:spPr>
        <p:txBody>
          <a:bodyPr wrap="square" lIns="0" rIns="0" tIns="0" bIns="0">
            <a:spAutoFit/>
          </a:bodyPr>
          <a:lstStyle/>
          <a:p>
            <a:pPr>
              <a:spcAft>
                <a:spcPts val="600"/>
              </a:spcAft>
              <a:defRPr b="1" sz="1500">
                <a:solidFill>
                  <a:srgbClr val="2563EB"/>
                </a:solidFill>
              </a:defRPr>
            </a:pPr>
            <a:r>
              <a:t>🔄 QUY TRÌNH 3 BƯỚC VẬN HÀNH TINH GỌN:</a:t>
            </a:r>
          </a:p>
          <a:p>
            <a:pPr>
              <a:defRPr b="1" sz="1300">
                <a:solidFill>
                  <a:srgbClr val="1E3A8A"/>
                </a:solidFill>
              </a:defRPr>
            </a:pPr>
            <a:r>
              <a:t>BƯỚC 1: Thu nhận tự nhiên (Voice Input - 30 giây)</a:t>
            </a:r>
          </a:p>
          <a:p>
            <a:pPr>
              <a:spcAft>
                <a:spcPts val="600"/>
              </a:spcAft>
              <a:defRPr sz="1200">
                <a:solidFill>
                  <a:srgbClr val="1E293B"/>
                </a:solidFill>
              </a:defRPr>
            </a:pPr>
            <a:r>
              <a:t>Cô giáo chỉ cần chạm nút micro nói 30s tiếng Việt tự nhiên cuối ngày: 'Bé Nam hôm nay tự xúc cơm gọn gàng, vẽ tranh màu sắc rất tươi, nhưng giờ vận động còn rụt rè.'</a:t>
            </a:r>
          </a:p>
          <a:p>
            <a:pPr>
              <a:defRPr b="1" sz="1300">
                <a:solidFill>
                  <a:srgbClr val="1E3A8A"/>
                </a:solidFill>
              </a:defRPr>
            </a:pPr>
            <a:r>
              <a:t>BƯỚC 2: AI Core Xử lý Sư phạm (5 Lĩnh vực GDMN)</a:t>
            </a:r>
          </a:p>
          <a:p>
            <a:pPr>
              <a:spcAft>
                <a:spcPts val="600"/>
              </a:spcAft>
              <a:defRPr sz="1200">
                <a:solidFill>
                  <a:srgbClr val="1E293B"/>
                </a:solidFill>
              </a:defRPr>
            </a:pPr>
            <a:r>
              <a:t>Prompt Master chuẩn Bộ GD&amp;ĐT bóc tách hành vi vào 5 lĩnh vực, chấm điểm sao và tự động tạo 01 lời khuyên tương tác tại nhà (Home Connection Tip) ấm áp.</a:t>
            </a:r>
          </a:p>
          <a:p>
            <a:pPr>
              <a:defRPr b="1" sz="1300">
                <a:solidFill>
                  <a:srgbClr val="1E3A8A"/>
                </a:solidFill>
              </a:defRPr>
            </a:pPr>
            <a:r>
              <a:t>BƯỚC 3: Kết xuất Trực quan (Canva Style Infographic)</a:t>
            </a:r>
          </a:p>
          <a:p>
            <a:pPr>
              <a:spcAft>
                <a:spcPts val="600"/>
              </a:spcAft>
              <a:defRPr sz="1200">
                <a:solidFill>
                  <a:srgbClr val="1E293B"/>
                </a:solidFill>
              </a:defRPr>
            </a:pPr>
            <a:r>
              <a:t>Tự động xuất thẻ ảnh 'Nhật ký tuần của bé' rực rỡ sắc màu, sao chép tin nhắn Zalo gửi riêng cho phụ huynh chỉ với 1 chạm duy nhất.</a:t>
            </a:r>
          </a:p>
          <a:p>
            <a:pPr>
              <a:spcAft>
                <a:spcPts val="400"/>
              </a:spcAft>
              <a:defRPr b="1" sz="1400">
                <a:solidFill>
                  <a:srgbClr val="1E3A8A"/>
                </a:solidFill>
              </a:defRPr>
            </a:pPr>
            <a:r>
              <a:t>⚙️ 3 PHÂN HỆ CÔNG NGHỆ CỐT LÕI (CHI PHÍ 0 ĐỒNG):</a:t>
            </a:r>
          </a:p>
          <a:p>
            <a:pPr>
              <a:spcAft>
                <a:spcPts val="400"/>
              </a:spcAft>
              <a:defRPr sz="1200">
                <a:solidFill>
                  <a:srgbClr val="1E293B"/>
                </a:solidFill>
              </a:defRPr>
            </a:pPr>
            <a:r>
              <a:t>1. Voice-to-Pedagogical Note: Web Speech API nhận diện giọng nói tiếng Việt chuẩn xác cả giọng địa phương.</a:t>
            </a:r>
          </a:p>
          <a:p>
            <a:pPr>
              <a:spcAft>
                <a:spcPts val="400"/>
              </a:spcAft>
              <a:defRPr sz="1200">
                <a:solidFill>
                  <a:srgbClr val="1E293B"/>
                </a:solidFill>
              </a:defRPr>
            </a:pPr>
            <a:r>
              <a:t>2. Pedagogical Rule Engine + Gemini AI: Bộ luật chuẩn hóa 5 lĩnh vực kết hợp AI đa phương tiện.</a:t>
            </a:r>
          </a:p>
          <a:p>
            <a:pPr>
              <a:spcAft>
                <a:spcPts val="400"/>
              </a:spcAft>
              <a:defRPr sz="1200">
                <a:solidFill>
                  <a:srgbClr val="1E293B"/>
                </a:solidFill>
              </a:defRPr>
            </a:pPr>
            <a:r>
              <a:t>3. Canva for Education Automation: Kết xuất thẻ đồ họa infographic với 4 chủ đề thiết kế sinh động.</a:t>
            </a:r>
          </a:p>
        </p:txBody>
      </p:sp>
      <p:sp>
        <p:nvSpPr>
          <p:cNvPr id="11" name="Rounded Rectangle 10"/>
          <p:cNvSpPr/>
          <p:nvPr/>
        </p:nvSpPr>
        <p:spPr>
          <a:xfrm>
            <a:off x="14685264" y="4937760"/>
            <a:ext cx="6519672" cy="25054560"/>
          </a:xfrm>
          <a:prstGeom prst="roundRect">
            <a:avLst/>
          </a:prstGeom>
          <a:solidFill>
            <a:srgbClr val="FFFFFF"/>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4685264" y="4937760"/>
            <a:ext cx="6519672" cy="11887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FFFFFF"/>
                </a:solidFill>
                <a:latin typeface="Arial"/>
              </a:defRPr>
            </a:pPr>
            <a:r>
              <a:t>3. KẾT QUẢ ĐẠT ĐƯỢC &amp; LAN TỎA</a:t>
            </a:r>
          </a:p>
          <a:p>
            <a:pPr>
              <a:defRPr sz="1200">
                <a:solidFill>
                  <a:srgbClr val="F1F5F9"/>
                </a:solidFill>
                <a:latin typeface="Arial"/>
              </a:defRPr>
            </a:pPr>
            <a:r>
              <a:t>Minh chứng thực nghiệm &amp; Trách nhiệm xã hội</a:t>
            </a:r>
          </a:p>
        </p:txBody>
      </p:sp>
      <p:sp>
        <p:nvSpPr>
          <p:cNvPr id="13" name="TextBox 12"/>
          <p:cNvSpPr txBox="1"/>
          <p:nvPr/>
        </p:nvSpPr>
        <p:spPr>
          <a:xfrm>
            <a:off x="14913864" y="6217920"/>
            <a:ext cx="6062472" cy="23591520"/>
          </a:xfrm>
          <a:prstGeom prst="rect">
            <a:avLst/>
          </a:prstGeom>
          <a:noFill/>
        </p:spPr>
        <p:txBody>
          <a:bodyPr wrap="square" lIns="0" rIns="0" tIns="0" bIns="0">
            <a:spAutoFit/>
          </a:bodyPr>
          <a:lstStyle/>
          <a:p>
            <a:pPr>
              <a:spcAft>
                <a:spcPts val="600"/>
              </a:spcAft>
              <a:defRPr b="1" sz="1500">
                <a:solidFill>
                  <a:srgbClr val="10B981"/>
                </a:solidFill>
              </a:defRPr>
            </a:pPr>
            <a:r>
              <a:t>📊 KẾT QUẢ ĐỊNH LƯỢNG THỰC NGHIỆM:</a:t>
            </a:r>
          </a:p>
          <a:p>
            <a:pPr>
              <a:spcAft>
                <a:spcPts val="500"/>
              </a:spcAft>
              <a:defRPr b="1" sz="1300">
                <a:solidFill>
                  <a:srgbClr val="1E3A8A"/>
                </a:solidFill>
              </a:defRPr>
            </a:pPr>
            <a:r>
              <a:t>• Thời gian ghi sổ theo dõi: 12h/tuần ➔ 2h/tuần (GIẢM 83.3%)</a:t>
            </a:r>
          </a:p>
          <a:p>
            <a:pPr>
              <a:spcAft>
                <a:spcPts val="500"/>
              </a:spcAft>
              <a:defRPr b="1" sz="1300">
                <a:solidFill>
                  <a:srgbClr val="1E3A8A"/>
                </a:solidFill>
              </a:defRPr>
            </a:pPr>
            <a:r>
              <a:t>• Tỷ lệ trẻ có hồ sơ số: 0% ➔ 100% toàn bộ trẻ thực nghiệm</a:t>
            </a:r>
          </a:p>
          <a:p>
            <a:pPr>
              <a:spcAft>
                <a:spcPts val="500"/>
              </a:spcAft>
              <a:defRPr b="1" sz="1300">
                <a:solidFill>
                  <a:srgbClr val="1E3A8A"/>
                </a:solidFill>
              </a:defRPr>
            </a:pPr>
            <a:r>
              <a:t>• Tỷ lệ phụ huynh phản hồi: 38.5% ➔ 94.7% (Tăng gấp 2.5 lần)</a:t>
            </a:r>
          </a:p>
          <a:p>
            <a:pPr>
              <a:spcAft>
                <a:spcPts val="500"/>
              </a:spcAft>
              <a:defRPr b="1" sz="1300">
                <a:solidFill>
                  <a:srgbClr val="1E3A8A"/>
                </a:solidFill>
              </a:defRPr>
            </a:pPr>
            <a:r>
              <a:t>• Phụ huynh đồng hành tại nhà: 22.0% ➔ 86.3% (Tăng gần 4 lần)</a:t>
            </a:r>
          </a:p>
          <a:p>
            <a:pPr>
              <a:spcAft>
                <a:spcPts val="600"/>
              </a:spcAft>
              <a:defRPr b="1" sz="1500">
                <a:solidFill>
                  <a:srgbClr val="1E3A8A"/>
                </a:solidFill>
              </a:defRPr>
            </a:pPr>
            <a:r>
              <a:t>💬 TIẾNG NÓI TỪ NGƯỜI TRONG CUỘC:</a:t>
            </a:r>
          </a:p>
          <a:p>
            <a:pPr>
              <a:defRPr i="1" sz="1200">
                <a:solidFill>
                  <a:srgbClr val="1E293B"/>
                </a:solidFill>
              </a:defRPr>
            </a:pPr>
            <a:r>
              <a:t>“Từ ngày có KID-CONNECT AI, tôi không còn phải thức đến 11 giờ đêm để ghi chép sổ sách. Tôi dành trọn thời gian đó để nghiên cứu phương pháp dạy học sáng tạo!”</a:t>
            </a:r>
          </a:p>
          <a:p>
            <a:pPr>
              <a:spcAft>
                <a:spcPts val="800"/>
              </a:spcAft>
              <a:defRPr b="1" sz="1150">
                <a:solidFill>
                  <a:srgbClr val="2563EB"/>
                </a:solidFill>
              </a:defRPr>
            </a:pPr>
            <a:r>
              <a:t>— Cô giáo chủ trì Trường Mầm non Phúc Sơn B</a:t>
            </a:r>
          </a:p>
          <a:p>
            <a:pPr>
              <a:defRPr i="1" sz="1200">
                <a:solidFill>
                  <a:srgbClr val="1E293B"/>
                </a:solidFill>
              </a:defRPr>
            </a:pPr>
            <a:r>
              <a:t>“Nhận được nhật ký sắc màu cùng gợi ý của cô giáo, tối nào cả nhà tôi cũng hào hứng cùng con chơi trò chơi chữ cái trước khi ngủ!”</a:t>
            </a:r>
          </a:p>
          <a:p>
            <a:pPr>
              <a:spcAft>
                <a:spcPts val="800"/>
              </a:spcAft>
              <a:defRPr b="1" sz="1150">
                <a:solidFill>
                  <a:srgbClr val="2563EB"/>
                </a:solidFill>
              </a:defRPr>
            </a:pPr>
            <a:r>
              <a:t>— Đại diện Ban Phụ huynh học sinh</a:t>
            </a:r>
          </a:p>
          <a:p>
            <a:pPr>
              <a:spcAft>
                <a:spcPts val="600"/>
              </a:spcAft>
              <a:defRPr b="1" sz="1500">
                <a:solidFill>
                  <a:srgbClr val="F59E0B"/>
                </a:solidFill>
              </a:defRPr>
            </a:pPr>
            <a:r>
              <a:t>🛡️ ĐẠO ĐỨC AI &amp; KHẢ NĂNG NHÂN RỘNG:</a:t>
            </a:r>
          </a:p>
          <a:p>
            <a:pPr>
              <a:spcAft>
                <a:spcPts val="600"/>
              </a:spcAft>
              <a:defRPr sz="1200">
                <a:solidFill>
                  <a:srgbClr val="1E293B"/>
                </a:solidFill>
              </a:defRPr>
            </a:pPr>
            <a:r>
              <a:t>★ An toàn dữ liệu trẻ em: 100% tuân thủ Luật Trẻ em 2016, hỗ trợ ẩn danh tên/ảnh học sinh, lưu trữ dữ liệu an toàn.</a:t>
            </a:r>
          </a:p>
          <a:p>
            <a:pPr>
              <a:spcAft>
                <a:spcPts val="600"/>
              </a:spcAft>
              <a:defRPr sz="1200">
                <a:solidFill>
                  <a:srgbClr val="1E293B"/>
                </a:solidFill>
              </a:defRPr>
            </a:pPr>
            <a:r>
              <a:t>★ Quyền kiểm duyệt tối cao: Human-in-the-Loop — Cô giáo là người duyệt và chỉnh sửa cuối cùng trước khi gửi.</a:t>
            </a:r>
          </a:p>
          <a:p>
            <a:pPr>
              <a:spcAft>
                <a:spcPts val="600"/>
              </a:spcAft>
              <a:defRPr sz="1200">
                <a:solidFill>
                  <a:srgbClr val="1E293B"/>
                </a:solidFill>
              </a:defRPr>
            </a:pPr>
            <a:r>
              <a:t>★ Dễ dàng nhân rộng: Không cần máy chủ đắt đỏ, chạy tốt trên điện thoại cá nhân của giáo viên, sẵn sàng chuyển giao cho 100% trường mầm non toàn huyện.</a:t>
            </a:r>
          </a:p>
        </p:txBody>
      </p:sp>
      <p:sp>
        <p:nvSpPr>
          <p:cNvPr id="14" name="Rounded Rectangle 13"/>
          <p:cNvSpPr/>
          <p:nvPr/>
        </p:nvSpPr>
        <p:spPr>
          <a:xfrm>
            <a:off x="731520" y="30358080"/>
            <a:ext cx="20482560" cy="1828800"/>
          </a:xfrm>
          <a:prstGeom prst="roundRect">
            <a:avLst/>
          </a:prstGeom>
          <a:solidFill>
            <a:srgbClr val="0F172A"/>
          </a:solidFill>
          <a:ln w="317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365760" rIns="2286000" tIns="137160" bIns="137160"/>
          <a:lstStyle/>
          <a:p>
            <a:pPr algn="ctr">
              <a:spcAft>
                <a:spcPts val="400"/>
              </a:spcAft>
              <a:defRPr sz="1700" b="1">
                <a:solidFill>
                  <a:srgbClr val="F59E0B"/>
                </a:solidFill>
                <a:latin typeface="Arial"/>
              </a:defRPr>
            </a:pPr>
            <a:r>
              <a:t>KID-CONNECT AI: CÔNG NGHỆ NÂNG BƯỚC YÊU THƯƠNG — CÙNG BÉ KIẾN TẠO TƯƠNG LAI SỐ</a:t>
            </a:r>
          </a:p>
          <a:p>
            <a:pPr>
              <a:defRPr sz="1300">
                <a:solidFill>
                  <a:srgbClr val="E2E8F0"/>
                </a:solidFill>
                <a:latin typeface="Arial"/>
              </a:defRPr>
            </a:pPr>
            <a:r>
              <a:t>Trường Mầm non Phúc Sơn B — Xã Phúc Sơn  |  Cổng thông tin &amp; Nộp bài dự thi: www.ieeai.net/giaithuong</a:t>
            </a:r>
            <a:br/>
            <a:r>
              <a:t>Ứng dụng trực tuyến: https://annethanks.github.io/dongtam-kindergarten/  |  Liên kết Canva BTC: apps.rmit.edu.vn</a:t>
            </a:r>
          </a:p>
        </p:txBody>
      </p:sp>
      <p:pic>
        <p:nvPicPr>
          <p:cNvPr id="15" name="Picture 14" descr="QR_Code_KID_CONNECT_AI.png"/>
          <p:cNvPicPr>
            <a:picLocks noChangeAspect="1"/>
          </p:cNvPicPr>
          <p:nvPr/>
        </p:nvPicPr>
        <p:blipFill>
          <a:blip r:embed="rId3"/>
          <a:stretch>
            <a:fillRect/>
          </a:stretch>
        </p:blipFill>
        <p:spPr>
          <a:xfrm>
            <a:off x="19476720" y="30449519"/>
            <a:ext cx="1554480" cy="1554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