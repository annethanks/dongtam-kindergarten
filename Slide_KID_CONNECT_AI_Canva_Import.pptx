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Lst>
  <p:sldSz cx="1219136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7" Type="http://schemas.openxmlformats.org/officeDocument/2006/relationships/tableStyles" Target="tableStyles.xml"/><Relationship Id="rId16" Type="http://schemas.openxmlformats.org/officeDocument/2006/relationships/viewProps" Target="viewProps.xml"/><Relationship Id="rId15" Type="http://schemas.openxmlformats.org/officeDocument/2006/relationships/presProps" Target="presProps.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32004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731520"/>
            <a:ext cx="10362895" cy="3931920"/>
          </a:xfrm>
          <a:prstGeom prst="rect">
            <a:avLst/>
          </a:prstGeom>
          <a:noFill/>
        </p:spPr>
        <p:txBody>
          <a:bodyPr wrap="square">
            <a:spAutoFit/>
          </a:bodyPr>
          <a:lstStyle/>
          <a:p>
            <a:pPr>
              <a:defRPr sz="1200" b="1">
                <a:solidFill>
                  <a:srgbClr val="2563EB"/>
                </a:solidFill>
              </a:defRPr>
            </a:pPr>
            <a:r>
              <a:t>BỘ GIÁO DỤC VÀ ĐÀO TẠO  •  ĐẠI HỌC RMIT VIỆT NAM  •  UBND XÃ PHÚC SƠN</a:t>
            </a:r>
          </a:p>
          <a:p>
            <a:pPr>
              <a:defRPr sz="1300" b="1">
                <a:solidFill>
                  <a:srgbClr val="475569"/>
                </a:solidFill>
              </a:defRPr>
            </a:pPr>
            <a:r>
              <a:t>DIỄN ĐÀN ĐỔI MỚI SÁNG TẠO GIÁO DỤC VIỆT NAM VỚI TRÍ TUỆ NHÂN TẠO 2026</a:t>
            </a:r>
            <a:br/>
            <a:r>
              <a:t>GIẢI THƯỞNG TIÊN PHONG ỨNG DỤNG AI TRONG GIÁO DỤC VIỆT NAM</a:t>
            </a:r>
          </a:p>
          <a:p>
            <a:pPr>
              <a:defRPr sz="3800" b="1">
                <a:solidFill>
                  <a:srgbClr val="1E3A8A"/>
                </a:solidFill>
              </a:defRPr>
            </a:pPr>
            <a:br/>
            <a:r>
              <a:t>KID-CONNECT AI</a:t>
            </a:r>
          </a:p>
          <a:p>
            <a:pPr>
              <a:defRPr sz="1700">
                <a:solidFill>
                  <a:srgbClr val="334155"/>
                </a:solidFill>
              </a:defRPr>
            </a:pPr>
            <a:r>
              <a:t>Trợ lý Trí tuệ Nhân tạo Cá nhân hóa Đánh giá Sự phát triển của trẻ và</a:t>
            </a:r>
            <a:br/>
            <a:r>
              <a:t>Tối ưu hóa Kết nối Nhà trường - Phụ huynh tại Trường Mầm non Phúc Sơn B</a:t>
            </a:r>
          </a:p>
        </p:txBody>
      </p:sp>
      <p:sp>
        <p:nvSpPr>
          <p:cNvPr id="5" name="Rounded Rectangle 4"/>
          <p:cNvSpPr/>
          <p:nvPr/>
        </p:nvSpPr>
        <p:spPr>
          <a:xfrm>
            <a:off x="914400" y="4754880"/>
            <a:ext cx="10362895" cy="1097280"/>
          </a:xfrm>
          <a:prstGeom prst="roundRect">
            <a:avLst/>
          </a:prstGeom>
          <a:solidFill>
            <a:srgbClr val="FFFF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50">
                <a:solidFill>
                  <a:srgbClr val="1E293B"/>
                </a:solidFill>
              </a:defRPr>
            </a:pPr>
            <a:r>
              <a:t>Phân bảng: BẢNG A (Mầm non &amp; Tiểu học)   |   Đơn vị: Trường Mầm non Phúc Sơn B</a:t>
            </a:r>
            <a:br/>
            <a:r>
              <a:t>Tác giả: Giáo viên chủ trì &amp; Tổ Công nghệ số   |   Cổng nộp bài: www.ieeai.net/giaithuong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731520" y="320040"/>
            <a:ext cx="10698480" cy="1005840"/>
          </a:xfrm>
          <a:prstGeom prst="rect">
            <a:avLst/>
          </a:prstGeom>
          <a:noFill/>
        </p:spPr>
        <p:txBody>
          <a:bodyPr wrap="square" lIns="0" tIns="0" rIns="0" bIns="0">
            <a:spAutoFit/>
          </a:bodyPr>
          <a:lstStyle/>
          <a:p>
            <a:pPr>
              <a:defRPr sz="1100" b="1">
                <a:solidFill>
                  <a:srgbClr val="2563EB"/>
                </a:solidFill>
              </a:defRPr>
            </a:pPr>
            <a:r>
              <a:t>BẢNG A: KHỐI MẦM NON &amp; TIỂU HỌC | TRƯỜNG MN PHÚC SƠN B</a:t>
            </a:r>
          </a:p>
          <a:p>
            <a:pPr>
              <a:defRPr sz="2100" b="1">
                <a:solidFill>
                  <a:srgbClr val="0F172A"/>
                </a:solidFill>
              </a:defRPr>
            </a:pPr>
            <a:r>
              <a:t>ĐỘT PHÁ TỪ MỘT Ý TƯỞNG NHÂN VĂN (EXECUTIVE SUMMARY)</a:t>
            </a:r>
          </a:p>
        </p:txBody>
      </p:sp>
      <p:sp>
        <p:nvSpPr>
          <p:cNvPr id="3" name="Rectangle 2"/>
          <p:cNvSpPr/>
          <p:nvPr/>
        </p:nvSpPr>
        <p:spPr>
          <a:xfrm>
            <a:off x="731520" y="1325880"/>
            <a:ext cx="10728655" cy="3657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463040"/>
            <a:ext cx="3383280" cy="2926080"/>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3600" b="1">
                <a:solidFill>
                  <a:srgbClr val="2563EB"/>
                </a:solidFill>
              </a:defRPr>
            </a:pPr>
            <a:br/>
            <a:r>
              <a:t>83.3%</a:t>
            </a:r>
          </a:p>
          <a:p>
            <a:pPr algn="ctr">
              <a:defRPr sz="1250" b="1">
                <a:solidFill>
                  <a:srgbClr val="0F172A"/>
                </a:solidFill>
              </a:defRPr>
            </a:pPr>
            <a:r>
              <a:t>GIẢM THỜI GIAN SỔ SÁCH</a:t>
            </a:r>
          </a:p>
          <a:p>
            <a:pPr algn="ctr">
              <a:defRPr sz="1150">
                <a:solidFill>
                  <a:srgbClr val="475569"/>
                </a:solidFill>
              </a:defRPr>
            </a:pPr>
            <a:br/>
            <a:r>
              <a:t>Giáo viên tiết kiệm từ 10-12 giờ xuống chỉ còn 1.5-2 giờ mỗi tuần để ghi sổ theo dõi trẻ.</a:t>
            </a:r>
          </a:p>
        </p:txBody>
      </p:sp>
      <p:sp>
        <p:nvSpPr>
          <p:cNvPr id="5" name="Rounded Rectangle 4"/>
          <p:cNvSpPr/>
          <p:nvPr/>
        </p:nvSpPr>
        <p:spPr>
          <a:xfrm>
            <a:off x="4389120" y="1463040"/>
            <a:ext cx="3383280" cy="2926080"/>
          </a:xfrm>
          <a:prstGeom prst="roundRect">
            <a:avLst/>
          </a:prstGeom>
          <a:solidFill>
            <a:srgbClr val="F0FDF4"/>
          </a:solidFill>
          <a:ln w="12700">
            <a:solidFill>
              <a:srgbClr val="16A34A"/>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3600" b="1">
                <a:solidFill>
                  <a:srgbClr val="16A34A"/>
                </a:solidFill>
              </a:defRPr>
            </a:pPr>
            <a:br/>
            <a:r>
              <a:t>100%</a:t>
            </a:r>
          </a:p>
          <a:p>
            <a:pPr algn="ctr">
              <a:defRPr sz="1250" b="1">
                <a:solidFill>
                  <a:srgbClr val="0F172A"/>
                </a:solidFill>
              </a:defRPr>
            </a:pPr>
            <a:r>
              <a:t>HỒ SƠ SỐ CÁ NHÂN HÓA</a:t>
            </a:r>
          </a:p>
          <a:p>
            <a:pPr algn="ctr">
              <a:defRPr sz="1150">
                <a:solidFill>
                  <a:srgbClr val="475569"/>
                </a:solidFill>
              </a:defRPr>
            </a:pPr>
            <a:br/>
            <a:r>
              <a:t>100% trẻ em được theo dõi liên tục 5 lĩnh vực phát triển theo phương pháp lấy trẻ làm trung tâm.</a:t>
            </a:r>
          </a:p>
        </p:txBody>
      </p:sp>
      <p:sp>
        <p:nvSpPr>
          <p:cNvPr id="6" name="Rounded Rectangle 5"/>
          <p:cNvSpPr/>
          <p:nvPr/>
        </p:nvSpPr>
        <p:spPr>
          <a:xfrm>
            <a:off x="8046720" y="1463040"/>
            <a:ext cx="3383280" cy="2926080"/>
          </a:xfrm>
          <a:prstGeom prst="roundRect">
            <a:avLst/>
          </a:prstGeom>
          <a:solidFill>
            <a:srgbClr val="FEF2F2"/>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3600" b="1">
                <a:solidFill>
                  <a:srgbClr val="DC2626"/>
                </a:solidFill>
              </a:defRPr>
            </a:pPr>
            <a:br/>
            <a:r>
              <a:t>94.7%</a:t>
            </a:r>
          </a:p>
          <a:p>
            <a:pPr algn="ctr">
              <a:defRPr sz="1250" b="1">
                <a:solidFill>
                  <a:srgbClr val="0F172A"/>
                </a:solidFill>
              </a:defRPr>
            </a:pPr>
            <a:r>
              <a:t>PHỤ HUYNH ĐỒNG HÀNH</a:t>
            </a:r>
          </a:p>
          <a:p>
            <a:pPr algn="ctr">
              <a:defRPr sz="1150">
                <a:solidFill>
                  <a:srgbClr val="475569"/>
                </a:solidFill>
              </a:defRPr>
            </a:pPr>
            <a:br/>
            <a:r>
              <a:t>Tỷ lệ phụ huynh tương tác tích cực và thực hành cùng con mỗi tối theo gợi ý sư phạm của AI.</a:t>
            </a:r>
          </a:p>
        </p:txBody>
      </p:sp>
      <p:sp>
        <p:nvSpPr>
          <p:cNvPr id="7" name="Rounded Rectangle 6"/>
          <p:cNvSpPr/>
          <p:nvPr/>
        </p:nvSpPr>
        <p:spPr>
          <a:xfrm>
            <a:off x="731520" y="4572000"/>
            <a:ext cx="10728655" cy="132588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350" b="1" i="1">
                <a:solidFill>
                  <a:srgbClr val="1E3A8A"/>
                </a:solidFill>
              </a:defRPr>
            </a:pPr>
            <a:r>
              <a:t>“Ứng dụng AI không phải để thay thế tình yêu thương của cô giáo, mà để giải phóng thời gian, giúp cô thấu hiểu và chăm sóc từng đứa trẻ một cách chu đáo, khoa học và cá nhân hóa nhất!”</a:t>
            </a:r>
          </a:p>
        </p:txBody>
      </p:sp>
      <p:pic>
        <p:nvPicPr>
          <p:cNvPr id="8" name="Picture 7" descr="footer_banner.png"/>
          <p:cNvPicPr>
            <a:picLocks noChangeAspect="1"/>
          </p:cNvPicPr>
          <p:nvPr/>
        </p:nvPicPr>
        <p:blipFill>
          <a:blip r:embed="rId1"/>
          <a:stretch>
            <a:fillRect/>
          </a:stretch>
        </p:blipFill>
        <p:spPr>
          <a:xfrm>
            <a:off x="0" y="6080760"/>
            <a:ext cx="12191695" cy="77724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731520" y="320040"/>
            <a:ext cx="10698480" cy="1005840"/>
          </a:xfrm>
          <a:prstGeom prst="rect">
            <a:avLst/>
          </a:prstGeom>
          <a:noFill/>
        </p:spPr>
        <p:txBody>
          <a:bodyPr wrap="square" lIns="0" tIns="0" rIns="0" bIns="0">
            <a:spAutoFit/>
          </a:bodyPr>
          <a:lstStyle/>
          <a:p>
            <a:pPr>
              <a:defRPr sz="1100" b="1">
                <a:solidFill>
                  <a:srgbClr val="2563EB"/>
                </a:solidFill>
              </a:defRPr>
            </a:pPr>
            <a:r>
              <a:t>BẢNG A: KHỐI MẦM NON &amp; TIỂU HỌC | TRƯỜNG MN PHÚC SƠN B</a:t>
            </a:r>
          </a:p>
          <a:p>
            <a:pPr>
              <a:defRPr sz="2100" b="1">
                <a:solidFill>
                  <a:srgbClr val="0F172A"/>
                </a:solidFill>
              </a:defRPr>
            </a:pPr>
            <a:r>
              <a:t>BỐI CẢNH THỰC TIỄN &amp; 3 NGHỊCH LÝ CỦA GIÁO VIÊN MẦM NON</a:t>
            </a:r>
          </a:p>
        </p:txBody>
      </p:sp>
      <p:sp>
        <p:nvSpPr>
          <p:cNvPr id="3" name="Rectangle 2"/>
          <p:cNvSpPr/>
          <p:nvPr/>
        </p:nvSpPr>
        <p:spPr>
          <a:xfrm>
            <a:off x="731520" y="1325880"/>
            <a:ext cx="10728655" cy="3657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463040"/>
            <a:ext cx="10728655" cy="12801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50" b="1">
                <a:solidFill>
                  <a:srgbClr val="DC2626"/>
                </a:solidFill>
              </a:defRPr>
            </a:pPr>
            <a:r>
              <a:t>Thách thức 1: Gánh nặng hồ sơ sổ sách</a:t>
            </a:r>
          </a:p>
          <a:p>
            <a:pPr>
              <a:defRPr sz="1250">
                <a:solidFill>
                  <a:srgbClr val="334155"/>
                </a:solidFill>
              </a:defRPr>
            </a:pPr>
            <a:r>
              <a:t>Theo quy định Bộ GD&amp;ĐT, mỗi ngày giáo viên phải theo dõi 25 - 35 trẻ theo 5 lĩnh vực phát triển. Mỗi tuần mất 8 - 12 giờ ngoài giờ lên lớp chỉ để ghi chép.</a:t>
            </a:r>
          </a:p>
        </p:txBody>
      </p:sp>
      <p:sp>
        <p:nvSpPr>
          <p:cNvPr id="5" name="Rounded Rectangle 4"/>
          <p:cNvSpPr/>
          <p:nvPr/>
        </p:nvSpPr>
        <p:spPr>
          <a:xfrm>
            <a:off x="731520" y="2926080"/>
            <a:ext cx="10728655" cy="12801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50" b="1">
                <a:solidFill>
                  <a:srgbClr val="DC2626"/>
                </a:solidFill>
              </a:defRPr>
            </a:pPr>
            <a:r>
              <a:t>Thách thức 2: Nhận xét rập khuôn, chiếu lệ</a:t>
            </a:r>
          </a:p>
          <a:p>
            <a:pPr>
              <a:defRPr sz="1250">
                <a:solidFill>
                  <a:srgbClr val="334155"/>
                </a:solidFill>
              </a:defRPr>
            </a:pPr>
            <a:r>
              <a:t>Do áp lực thời gian quá lớn, lời nhận xét thường chung chung ('bé ngoan, ăn hết suất'), chưa phản ánh đúng đặc điểm, sở thích và sự tiến bộ vi mô của từng trẻ.</a:t>
            </a:r>
          </a:p>
        </p:txBody>
      </p:sp>
      <p:sp>
        <p:nvSpPr>
          <p:cNvPr id="6" name="Rounded Rectangle 5"/>
          <p:cNvSpPr/>
          <p:nvPr/>
        </p:nvSpPr>
        <p:spPr>
          <a:xfrm>
            <a:off x="731520" y="4389120"/>
            <a:ext cx="10728655" cy="12801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50" b="1">
                <a:solidFill>
                  <a:srgbClr val="DC2626"/>
                </a:solidFill>
              </a:defRPr>
            </a:pPr>
            <a:r>
              <a:t>Thách thức 3: Kênh kết nối bị nghẽn 1 chiều</a:t>
            </a:r>
          </a:p>
          <a:p>
            <a:pPr>
              <a:defRPr sz="1250">
                <a:solidFill>
                  <a:srgbClr val="334155"/>
                </a:solidFill>
              </a:defRPr>
            </a:pPr>
            <a:r>
              <a:t>Nhóm Zalo lớp chủ yếu gửi thông báo chung (thực đơn, lịch học). Phụ huynh thiếu thông tin cụ thể để biết tối nay nên chơi gì, trò chuyện gì để rèn luyện cùng con.</a:t>
            </a:r>
          </a:p>
        </p:txBody>
      </p:sp>
      <p:pic>
        <p:nvPicPr>
          <p:cNvPr id="7" name="Picture 6" descr="footer_banner.png"/>
          <p:cNvPicPr>
            <a:picLocks noChangeAspect="1"/>
          </p:cNvPicPr>
          <p:nvPr/>
        </p:nvPicPr>
        <p:blipFill>
          <a:blip r:embed="rId1"/>
          <a:stretch>
            <a:fillRect/>
          </a:stretch>
        </p:blipFill>
        <p:spPr>
          <a:xfrm>
            <a:off x="0" y="6080760"/>
            <a:ext cx="12191695" cy="77724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731520" y="320040"/>
            <a:ext cx="10698480" cy="1005840"/>
          </a:xfrm>
          <a:prstGeom prst="rect">
            <a:avLst/>
          </a:prstGeom>
          <a:noFill/>
        </p:spPr>
        <p:txBody>
          <a:bodyPr wrap="square" lIns="0" tIns="0" rIns="0" bIns="0">
            <a:spAutoFit/>
          </a:bodyPr>
          <a:lstStyle/>
          <a:p>
            <a:pPr>
              <a:defRPr sz="1100" b="1">
                <a:solidFill>
                  <a:srgbClr val="2563EB"/>
                </a:solidFill>
              </a:defRPr>
            </a:pPr>
            <a:r>
              <a:t>BẢNG A: KHỐI MẦM NON &amp; TIỂU HỌC | TRƯỜNG MN PHÚC SƠN B</a:t>
            </a:r>
          </a:p>
          <a:p>
            <a:pPr>
              <a:defRPr sz="2100" b="1">
                <a:solidFill>
                  <a:srgbClr val="0F172A"/>
                </a:solidFill>
              </a:defRPr>
            </a:pPr>
            <a:r>
              <a:t>GIẢI PHÁP ĐỘT PHÁ: HỆ THỐNG KID-CONNECT AI</a:t>
            </a:r>
          </a:p>
        </p:txBody>
      </p:sp>
      <p:sp>
        <p:nvSpPr>
          <p:cNvPr id="3" name="Rectangle 2"/>
          <p:cNvSpPr/>
          <p:nvPr/>
        </p:nvSpPr>
        <p:spPr>
          <a:xfrm>
            <a:off x="731520" y="1325880"/>
            <a:ext cx="10728655" cy="3657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463040"/>
            <a:ext cx="3383280" cy="4389120"/>
          </a:xfrm>
          <a:prstGeom prst="roundRect">
            <a:avLst/>
          </a:prstGeom>
          <a:solidFill>
            <a:srgbClr val="FFFFFF"/>
          </a:solidFill>
          <a:ln w="12700">
            <a:solidFill>
              <a:srgbClr val="93C5FD"/>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50" b="1">
                <a:solidFill>
                  <a:srgbClr val="1E3A8A"/>
                </a:solidFill>
              </a:defRPr>
            </a:pPr>
            <a:r>
              <a:t>TRỤ CỘT 1</a:t>
            </a:r>
            <a:br/>
            <a:r>
              <a:t>Nhập liệu siêu tốc bằng giọng nói</a:t>
            </a:r>
          </a:p>
          <a:p>
            <a:pPr>
              <a:defRPr sz="1100" i="1">
                <a:solidFill>
                  <a:srgbClr val="64748B"/>
                </a:solidFill>
              </a:defRPr>
            </a:pPr>
            <a:r>
              <a:t>(Voice-to-Pedagogical Note)</a:t>
            </a:r>
            <a:br/>
          </a:p>
          <a:p>
            <a:pPr>
              <a:defRPr sz="1200">
                <a:solidFill>
                  <a:srgbClr val="334155"/>
                </a:solidFill>
              </a:defRPr>
            </a:pPr>
            <a:r>
              <a:t>Cô giáo chỉ cần nói 30 giây bằng ngôn ngữ tự nhiên. AI tự động chuyển đổi thành văn bản và phân loại vào 5 lĩnh vực phát triển mầm non.</a:t>
            </a:r>
          </a:p>
        </p:txBody>
      </p:sp>
      <p:sp>
        <p:nvSpPr>
          <p:cNvPr id="5" name="Rounded Rectangle 4"/>
          <p:cNvSpPr/>
          <p:nvPr/>
        </p:nvSpPr>
        <p:spPr>
          <a:xfrm>
            <a:off x="4389120" y="1463040"/>
            <a:ext cx="3383280" cy="4389120"/>
          </a:xfrm>
          <a:prstGeom prst="roundRect">
            <a:avLst/>
          </a:prstGeom>
          <a:solidFill>
            <a:srgbClr val="FFFFFF"/>
          </a:solidFill>
          <a:ln w="12700">
            <a:solidFill>
              <a:srgbClr val="93C5FD"/>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50" b="1">
                <a:solidFill>
                  <a:srgbClr val="1E3A8A"/>
                </a:solidFill>
              </a:defRPr>
            </a:pPr>
            <a:r>
              <a:t>TRỤ CỘT 2</a:t>
            </a:r>
            <a:br/>
            <a:r>
              <a:t>Cá nhân hóa lời khuyên gia đình</a:t>
            </a:r>
          </a:p>
          <a:p>
            <a:pPr>
              <a:defRPr sz="1100" i="1">
                <a:solidFill>
                  <a:srgbClr val="64748B"/>
                </a:solidFill>
              </a:defRPr>
            </a:pPr>
            <a:r>
              <a:t>(Home Connection Tip Generator)</a:t>
            </a:r>
            <a:br/>
          </a:p>
          <a:p>
            <a:pPr>
              <a:defRPr sz="1200">
                <a:solidFill>
                  <a:srgbClr val="334155"/>
                </a:solidFill>
              </a:defRPr>
            </a:pPr>
            <a:r>
              <a:t>AI phân tích điểm mạnh và điểm cần cải thiện của trẻ để gợi ý cho cha mẹ 01 trò chơi 15 phút tại nhà để rèn luyện cùng con.</a:t>
            </a:r>
          </a:p>
        </p:txBody>
      </p:sp>
      <p:sp>
        <p:nvSpPr>
          <p:cNvPr id="6" name="Rounded Rectangle 5"/>
          <p:cNvSpPr/>
          <p:nvPr/>
        </p:nvSpPr>
        <p:spPr>
          <a:xfrm>
            <a:off x="8046720" y="1463040"/>
            <a:ext cx="3383280" cy="4389120"/>
          </a:xfrm>
          <a:prstGeom prst="roundRect">
            <a:avLst/>
          </a:prstGeom>
          <a:solidFill>
            <a:srgbClr val="FFFFFF"/>
          </a:solidFill>
          <a:ln w="12700">
            <a:solidFill>
              <a:srgbClr val="93C5FD"/>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50" b="1">
                <a:solidFill>
                  <a:srgbClr val="1E3A8A"/>
                </a:solidFill>
              </a:defRPr>
            </a:pPr>
            <a:r>
              <a:t>TRỤ CỘT 3</a:t>
            </a:r>
            <a:br/>
            <a:r>
              <a:t>Tự động hóa bản tin thị giác</a:t>
            </a:r>
          </a:p>
          <a:p>
            <a:pPr>
              <a:defRPr sz="1100" i="1">
                <a:solidFill>
                  <a:srgbClr val="64748B"/>
                </a:solidFill>
              </a:defRPr>
            </a:pPr>
            <a:r>
              <a:t>(Canva Infographic Automation)</a:t>
            </a:r>
            <a:br/>
          </a:p>
          <a:p>
            <a:pPr>
              <a:defRPr sz="1200">
                <a:solidFill>
                  <a:srgbClr val="334155"/>
                </a:solidFill>
              </a:defRPr>
            </a:pPr>
            <a:r>
              <a:t>Kết xuất tự động 'Nhật ký phát triển của bé' với hình ảnh sinh động, màu sắc tươi sáng, biểu đồ cảm xúc gửi riêng cho từng phụ huynh.</a:t>
            </a:r>
          </a:p>
        </p:txBody>
      </p:sp>
      <p:pic>
        <p:nvPicPr>
          <p:cNvPr id="7" name="Picture 6" descr="footer_banner.png"/>
          <p:cNvPicPr>
            <a:picLocks noChangeAspect="1"/>
          </p:cNvPicPr>
          <p:nvPr/>
        </p:nvPicPr>
        <p:blipFill>
          <a:blip r:embed="rId1"/>
          <a:stretch>
            <a:fillRect/>
          </a:stretch>
        </p:blipFill>
        <p:spPr>
          <a:xfrm>
            <a:off x="0" y="6080760"/>
            <a:ext cx="12191695" cy="77724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731520" y="320040"/>
            <a:ext cx="10698480" cy="1005840"/>
          </a:xfrm>
          <a:prstGeom prst="rect">
            <a:avLst/>
          </a:prstGeom>
          <a:noFill/>
        </p:spPr>
        <p:txBody>
          <a:bodyPr wrap="square" lIns="0" tIns="0" rIns="0" bIns="0">
            <a:spAutoFit/>
          </a:bodyPr>
          <a:lstStyle/>
          <a:p>
            <a:pPr>
              <a:defRPr sz="1100" b="1">
                <a:solidFill>
                  <a:srgbClr val="2563EB"/>
                </a:solidFill>
              </a:defRPr>
            </a:pPr>
            <a:r>
              <a:t>BẢNG A: KHỐI MẦM NON &amp; TIỂU HỌC | TRƯỜNG MN PHÚC SƠN B</a:t>
            </a:r>
          </a:p>
          <a:p>
            <a:pPr>
              <a:defRPr sz="2100" b="1">
                <a:solidFill>
                  <a:srgbClr val="0F172A"/>
                </a:solidFill>
              </a:defRPr>
            </a:pPr>
            <a:r>
              <a:t>KIẾN TRÚC KỸ THUẬT &amp; QUY TRÌNH 3 BƯỚC VẬN HÀNH</a:t>
            </a:r>
          </a:p>
        </p:txBody>
      </p:sp>
      <p:sp>
        <p:nvSpPr>
          <p:cNvPr id="3" name="Rectangle 2"/>
          <p:cNvSpPr/>
          <p:nvPr/>
        </p:nvSpPr>
        <p:spPr>
          <a:xfrm>
            <a:off x="731520" y="1325880"/>
            <a:ext cx="10728655" cy="3657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463040"/>
            <a:ext cx="3383280" cy="438912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350" b="1">
                <a:solidFill>
                  <a:srgbClr val="2563EB"/>
                </a:solidFill>
              </a:defRPr>
            </a:pPr>
            <a:r>
              <a:t>BƯỚC 1: INPUT</a:t>
            </a:r>
            <a:br/>
            <a:r>
              <a:t>Thu nhận dữ liệu tự nhiên</a:t>
            </a:r>
            <a:br/>
          </a:p>
          <a:p>
            <a:pPr>
              <a:defRPr sz="1150">
                <a:solidFill>
                  <a:srgbClr val="334155"/>
                </a:solidFill>
              </a:defRPr>
            </a:pPr>
            <a:r>
              <a:t>Cuối ngày, cô giáo ghi âm 30 giây hoặc nhập từ khóa thô:</a:t>
            </a:r>
            <a:br/>
            <a:r>
              <a:t>• 'Bé Nam hôm nay tự xúc cơm gọn gàng, nhưng giờ kể chuyện còn quay sang nói chuyện với bạn, thích chơi lego xe cứu hỏa.'</a:t>
            </a:r>
          </a:p>
        </p:txBody>
      </p:sp>
      <p:sp>
        <p:nvSpPr>
          <p:cNvPr id="5" name="Rounded Rectangle 4"/>
          <p:cNvSpPr/>
          <p:nvPr/>
        </p:nvSpPr>
        <p:spPr>
          <a:xfrm>
            <a:off x="4389120" y="1463040"/>
            <a:ext cx="3383280" cy="438912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350" b="1">
                <a:solidFill>
                  <a:srgbClr val="2563EB"/>
                </a:solidFill>
              </a:defRPr>
            </a:pPr>
            <a:r>
              <a:t>BƯỚC 2: PROCESSING</a:t>
            </a:r>
            <a:br/>
            <a:r>
              <a:t>Lõi AI phân tích thông minh</a:t>
            </a:r>
            <a:br/>
          </a:p>
          <a:p>
            <a:pPr>
              <a:defRPr sz="1150">
                <a:solidFill>
                  <a:srgbClr val="334155"/>
                </a:solidFill>
              </a:defRPr>
            </a:pPr>
            <a:r>
              <a:t>Prompt Master phân loại chuẩn 5 lĩnh vực của Bộ GD&amp;ĐT:</a:t>
            </a:r>
            <a:br/>
            <a:r>
              <a:t>• Thể chất: Vận động tinh tiến bộ.</a:t>
            </a:r>
            <a:br/>
            <a:r>
              <a:t>• Kỹ năng xã hội: Cần rèn sự chú ý.</a:t>
            </a:r>
            <a:br/>
            <a:r>
              <a:t>• Sinh lời khuyên tương tác cho gia đình.</a:t>
            </a:r>
          </a:p>
        </p:txBody>
      </p:sp>
      <p:sp>
        <p:nvSpPr>
          <p:cNvPr id="6" name="Rounded Rectangle 5"/>
          <p:cNvSpPr/>
          <p:nvPr/>
        </p:nvSpPr>
        <p:spPr>
          <a:xfrm>
            <a:off x="8046720" y="1463040"/>
            <a:ext cx="3383280" cy="438912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350" b="1">
                <a:solidFill>
                  <a:srgbClr val="2563EB"/>
                </a:solidFill>
              </a:defRPr>
            </a:pPr>
            <a:r>
              <a:t>BƯỚC 3: OUTPUT</a:t>
            </a:r>
            <a:br/>
            <a:r>
              <a:t>Kết xuất trực quan gửi phụ huynh</a:t>
            </a:r>
            <a:br/>
          </a:p>
          <a:p>
            <a:pPr>
              <a:defRPr sz="1150">
                <a:solidFill>
                  <a:srgbClr val="334155"/>
                </a:solidFill>
              </a:defRPr>
            </a:pPr>
            <a:r>
              <a:t>Hệ thống tự động đồng bộ sang Canva tạo bản tin:</a:t>
            </a:r>
            <a:br/>
            <a:r>
              <a:t>• Tấm thiệp 'Nhật ký tuần của bé'.</a:t>
            </a:r>
            <a:br/>
            <a:r>
              <a:t>• 3 ngôi sao sáng trong tuần.</a:t>
            </a:r>
            <a:br/>
            <a:r>
              <a:t>• Gợi ý trò chơi tối nay cùng bố mẹ.</a:t>
            </a:r>
          </a:p>
        </p:txBody>
      </p:sp>
      <p:pic>
        <p:nvPicPr>
          <p:cNvPr id="7" name="Picture 6" descr="footer_banner.png"/>
          <p:cNvPicPr>
            <a:picLocks noChangeAspect="1"/>
          </p:cNvPicPr>
          <p:nvPr/>
        </p:nvPicPr>
        <p:blipFill>
          <a:blip r:embed="rId1"/>
          <a:stretch>
            <a:fillRect/>
          </a:stretch>
        </p:blipFill>
        <p:spPr>
          <a:xfrm>
            <a:off x="0" y="6080760"/>
            <a:ext cx="12191695" cy="77724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731520" y="320040"/>
            <a:ext cx="10698480" cy="1005840"/>
          </a:xfrm>
          <a:prstGeom prst="rect">
            <a:avLst/>
          </a:prstGeom>
          <a:noFill/>
        </p:spPr>
        <p:txBody>
          <a:bodyPr wrap="square" lIns="0" tIns="0" rIns="0" bIns="0">
            <a:spAutoFit/>
          </a:bodyPr>
          <a:lstStyle/>
          <a:p>
            <a:pPr>
              <a:defRPr sz="1100" b="1">
                <a:solidFill>
                  <a:srgbClr val="2563EB"/>
                </a:solidFill>
              </a:defRPr>
            </a:pPr>
            <a:r>
              <a:t>BẢNG A: KHỐI MẦM NON &amp; TIỂU HỌC | TRƯỜNG MN PHÚC SƠN B</a:t>
            </a:r>
          </a:p>
          <a:p>
            <a:pPr>
              <a:defRPr sz="2100" b="1">
                <a:solidFill>
                  <a:srgbClr val="0F172A"/>
                </a:solidFill>
              </a:defRPr>
            </a:pPr>
            <a:r>
              <a:t>TRIỂN KHAI THỰC TẾ TẠI TRƯỜNG MẦM NON PHÚC SƠN B</a:t>
            </a:r>
          </a:p>
        </p:txBody>
      </p:sp>
      <p:sp>
        <p:nvSpPr>
          <p:cNvPr id="3" name="Rectangle 2"/>
          <p:cNvSpPr/>
          <p:nvPr/>
        </p:nvSpPr>
        <p:spPr>
          <a:xfrm>
            <a:off x="731520" y="1325880"/>
            <a:ext cx="10728655" cy="3657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463040"/>
            <a:ext cx="5212080" cy="438912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50" b="1">
                <a:solidFill>
                  <a:srgbClr val="1E3A8A"/>
                </a:solidFill>
              </a:defRPr>
            </a:pPr>
            <a:r>
              <a:t>QUY MÔ TRIỂN KHAI THỰC NGHIỆM</a:t>
            </a:r>
          </a:p>
          <a:p>
            <a:pPr>
              <a:defRPr sz="1250">
                <a:solidFill>
                  <a:srgbClr val="334155"/>
                </a:solidFill>
              </a:defRPr>
            </a:pPr>
            <a:br/>
            <a:r>
              <a:t>• Địa bàn áp dụng: Trường Mầm non Phúc Sơn B, Xã Phúc Sơn.</a:t>
            </a:r>
            <a:br/>
            <a:r>
              <a:t>• 4 Khối lớp tham gia:</a:t>
            </a:r>
            <a:br/>
            <a:r>
              <a:t>  - Nhóm Nhà trẻ (24 - 36 tháng tuổi)</a:t>
            </a:r>
            <a:br/>
            <a:r>
              <a:t>  - Lớp Mẫu giáo bé (3 - 4 tuổi)</a:t>
            </a:r>
            <a:br/>
            <a:r>
              <a:t>  - Lớp Mẫu giáo nhỡ (4 - 5 tuổi)</a:t>
            </a:r>
            <a:br/>
            <a:r>
              <a:t>  - Lớp Mẫu giáo lớn (5 - 6 tuổi)</a:t>
            </a:r>
            <a:br/>
            <a:r>
              <a:t>• Tổng số học sinh: Hơn 100 trẻ tham gia theo dõi thực nghiệm.</a:t>
            </a:r>
            <a:br/>
            <a:r>
              <a:t>• Thiết bị sử dụng: Điện thoại thông minh của giáo viên, máy tính lớp học, tivi kết nối internet sẵn có của nhà trường.</a:t>
            </a:r>
          </a:p>
        </p:txBody>
      </p:sp>
      <p:sp>
        <p:nvSpPr>
          <p:cNvPr id="5" name="Rounded Rectangle 4"/>
          <p:cNvSpPr/>
          <p:nvPr/>
        </p:nvSpPr>
        <p:spPr>
          <a:xfrm>
            <a:off x="6217920" y="1463040"/>
            <a:ext cx="5212080" cy="4389120"/>
          </a:xfrm>
          <a:prstGeom prst="roundRect">
            <a:avLst/>
          </a:prstGeom>
          <a:solidFill>
            <a:srgbClr val="EFF6FF"/>
          </a:solidFill>
          <a:ln w="12700">
            <a:solidFill>
              <a:srgbClr val="93C5FD"/>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50" b="1">
                <a:solidFill>
                  <a:srgbClr val="2563EB"/>
                </a:solidFill>
              </a:defRPr>
            </a:pPr>
            <a:r>
              <a:t>HÌNH ẢNH MINH CHỨNG THỰC TẾ</a:t>
            </a:r>
          </a:p>
          <a:p>
            <a:pPr>
              <a:defRPr sz="1250">
                <a:solidFill>
                  <a:srgbClr val="475569"/>
                </a:solidFill>
              </a:defRPr>
            </a:pPr>
            <a:br/>
            <a:r>
              <a:t>[VỊ TRÍ DÁN ẢNH 1]: Cô giáo sử dụng giọng nói ghi âm nhật ký bé vào cuối giờ trả trẻ.</a:t>
            </a:r>
            <a:br/>
            <a:br/>
            <a:r>
              <a:t>[VỊ TRÍ DÁN ẢNH 2]: Mẫu bản tin 'Nhật ký phát triển của bé' xuất từ Canva gửi cho phụ huynh.</a:t>
            </a:r>
            <a:br/>
            <a:br/>
            <a:r>
              <a:t>[VỊ TRÍ DÁN ẢNH 3]: Trẻ em vui tươi tham gia các hoạt động giáo dục tại lớp học Trường MN Phúc Sơn B.</a:t>
            </a:r>
          </a:p>
        </p:txBody>
      </p:sp>
      <p:pic>
        <p:nvPicPr>
          <p:cNvPr id="6" name="Picture 5" descr="footer_banner.png"/>
          <p:cNvPicPr>
            <a:picLocks noChangeAspect="1"/>
          </p:cNvPicPr>
          <p:nvPr/>
        </p:nvPicPr>
        <p:blipFill>
          <a:blip r:embed="rId1"/>
          <a:stretch>
            <a:fillRect/>
          </a:stretch>
        </p:blipFill>
        <p:spPr>
          <a:xfrm>
            <a:off x="0" y="6080760"/>
            <a:ext cx="12191695" cy="77724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731520" y="320040"/>
            <a:ext cx="10698480" cy="1005840"/>
          </a:xfrm>
          <a:prstGeom prst="rect">
            <a:avLst/>
          </a:prstGeom>
          <a:noFill/>
        </p:spPr>
        <p:txBody>
          <a:bodyPr wrap="square" lIns="0" tIns="0" rIns="0" bIns="0">
            <a:spAutoFit/>
          </a:bodyPr>
          <a:lstStyle/>
          <a:p>
            <a:pPr>
              <a:defRPr sz="1100" b="1">
                <a:solidFill>
                  <a:srgbClr val="2563EB"/>
                </a:solidFill>
              </a:defRPr>
            </a:pPr>
            <a:r>
              <a:t>BẢNG A: KHỐI MẦM NON &amp; TIỂU HỌC | TRƯỜNG MN PHÚC SƠN B</a:t>
            </a:r>
          </a:p>
          <a:p>
            <a:pPr>
              <a:defRPr sz="2100" b="1">
                <a:solidFill>
                  <a:srgbClr val="0F172A"/>
                </a:solidFill>
              </a:defRPr>
            </a:pPr>
            <a:r>
              <a:t>ĐIỂM SÁNG TẠO: HOME CONNECTION TIP (GỢI Ý TƯƠNG TÁC GIA ĐÌNH)</a:t>
            </a:r>
          </a:p>
        </p:txBody>
      </p:sp>
      <p:sp>
        <p:nvSpPr>
          <p:cNvPr id="3" name="Rectangle 2"/>
          <p:cNvSpPr/>
          <p:nvPr/>
        </p:nvSpPr>
        <p:spPr>
          <a:xfrm>
            <a:off x="731520" y="1325880"/>
            <a:ext cx="10728655" cy="3657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463040"/>
            <a:ext cx="5212080" cy="4389120"/>
          </a:xfrm>
          <a:prstGeom prst="roundRect">
            <a:avLst/>
          </a:prstGeom>
          <a:solidFill>
            <a:srgbClr val="FEF2F2"/>
          </a:solidFill>
          <a:ln w="12700">
            <a:solidFill>
              <a:srgbClr val="FCA5A5"/>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50" b="1">
                <a:solidFill>
                  <a:srgbClr val="DC2626"/>
                </a:solidFill>
              </a:defRPr>
            </a:pPr>
            <a:r>
              <a:t>CÁCH LÀM TRUYỀN THỐNG</a:t>
            </a:r>
            <a:br/>
            <a:r>
              <a:t>(THỤ ĐỘNG &amp; GÂY LO LẮNG)</a:t>
            </a:r>
          </a:p>
          <a:p>
            <a:pPr>
              <a:defRPr sz="1250">
                <a:solidFill>
                  <a:srgbClr val="334155"/>
                </a:solidFill>
              </a:defRPr>
            </a:pPr>
            <a:br/>
            <a:r>
              <a:t>• Nhận xét chung chung trên sổ giấy: 'Bé ngoan, ăn hết suất, còn hiếu động'.</a:t>
            </a:r>
            <a:br/>
            <a:br/>
            <a:r>
              <a:t>• Hoặc nhắn tin Zalo: 'Hôm nay bé chưa tập trung trong giờ học'.</a:t>
            </a:r>
            <a:br/>
            <a:br/>
            <a:r>
              <a:t>• Hậu quả:</a:t>
            </a:r>
            <a:br/>
            <a:r>
              <a:t>  - Phụ huynh hoang mang, không biết con mình thiếu kỹ năng gì.</a:t>
            </a:r>
            <a:br/>
            <a:r>
              <a:t>  - Thiếu giải pháp sư phạm cụ thể tại nhà.</a:t>
            </a:r>
            <a:br/>
            <a:r>
              <a:t>  - Tương tác giữa cha mẹ và nhà trường bị đứt đoạn.</a:t>
            </a:r>
          </a:p>
        </p:txBody>
      </p:sp>
      <p:sp>
        <p:nvSpPr>
          <p:cNvPr id="5" name="Rounded Rectangle 4"/>
          <p:cNvSpPr/>
          <p:nvPr/>
        </p:nvSpPr>
        <p:spPr>
          <a:xfrm>
            <a:off x="6217920" y="1463040"/>
            <a:ext cx="5212080" cy="4389120"/>
          </a:xfrm>
          <a:prstGeom prst="roundRect">
            <a:avLst/>
          </a:prstGeom>
          <a:solidFill>
            <a:srgbClr val="F0FDF4"/>
          </a:solidFill>
          <a:ln w="12700">
            <a:solidFill>
              <a:srgbClr val="86EFA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50" b="1">
                <a:solidFill>
                  <a:srgbClr val="16A34A"/>
                </a:solidFill>
              </a:defRPr>
            </a:pPr>
            <a:r>
              <a:t>GIẢI PHÁP VỚI KID-CONNECT AI</a:t>
            </a:r>
            <a:br/>
            <a:r>
              <a:t>(CHỦ ĐỘNG &amp; TRUYỀN CẢM HỨNG)</a:t>
            </a:r>
          </a:p>
          <a:p>
            <a:pPr>
              <a:defRPr sz="1250">
                <a:solidFill>
                  <a:srgbClr val="334155"/>
                </a:solidFill>
              </a:defRPr>
            </a:pPr>
            <a:br/>
            <a:r>
              <a:t>• Nhận xét cá nhân hóa tích cực:</a:t>
            </a:r>
            <a:br/>
            <a:r>
              <a:t>'Hôm nay bé Nam rất khéo léo khi xếp hình mô hình cứu hỏa, nhưng giờ nghe truyện còn hơi xao nhãng.'</a:t>
            </a:r>
            <a:br/>
            <a:br/>
            <a:r>
              <a:t>• Lời khuyên sư phạm cho gia đình:</a:t>
            </a:r>
            <a:br/>
            <a:r>
              <a:t>'Tối nay bố mẹ hãy cùng bé chơi trò 'Đi tìm lính cứu hỏa giấu trong trang sách' khoảng 15 phút nhé! Bé sẽ vừa được thỏa mãn sở thích, vừa rèn luyện khả năng chú ý rất tốt đấy ạ!'</a:t>
            </a:r>
            <a:br/>
            <a:br/>
            <a:r>
              <a:t>• Hiệu quả: Phụ huynh hào hứng đồng hành ngay!</a:t>
            </a:r>
          </a:p>
        </p:txBody>
      </p:sp>
      <p:pic>
        <p:nvPicPr>
          <p:cNvPr id="6" name="Picture 5" descr="footer_banner.png"/>
          <p:cNvPicPr>
            <a:picLocks noChangeAspect="1"/>
          </p:cNvPicPr>
          <p:nvPr/>
        </p:nvPicPr>
        <p:blipFill>
          <a:blip r:embed="rId1"/>
          <a:stretch>
            <a:fillRect/>
          </a:stretch>
        </p:blipFill>
        <p:spPr>
          <a:xfrm>
            <a:off x="0" y="6080760"/>
            <a:ext cx="12191695" cy="77724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731520" y="320040"/>
            <a:ext cx="10698480" cy="1005840"/>
          </a:xfrm>
          <a:prstGeom prst="rect">
            <a:avLst/>
          </a:prstGeom>
          <a:noFill/>
        </p:spPr>
        <p:txBody>
          <a:bodyPr wrap="square" lIns="0" tIns="0" rIns="0" bIns="0">
            <a:spAutoFit/>
          </a:bodyPr>
          <a:lstStyle/>
          <a:p>
            <a:pPr>
              <a:defRPr sz="1100" b="1">
                <a:solidFill>
                  <a:srgbClr val="2563EB"/>
                </a:solidFill>
              </a:defRPr>
            </a:pPr>
            <a:r>
              <a:t>BẢNG A: KHỐI MẦM NON &amp; TIỂU HỌC | TRƯỜNG MN PHÚC SƠN B</a:t>
            </a:r>
          </a:p>
          <a:p>
            <a:pPr>
              <a:defRPr sz="2100" b="1">
                <a:solidFill>
                  <a:srgbClr val="0F172A"/>
                </a:solidFill>
              </a:defRPr>
            </a:pPr>
            <a:r>
              <a:t>KẾT QUẢ ĐO LƯỜNG ĐỊNH LƯỢNG (DỮ LIỆU THỰC NGHIỆM)</a:t>
            </a:r>
          </a:p>
        </p:txBody>
      </p:sp>
      <p:sp>
        <p:nvSpPr>
          <p:cNvPr id="3" name="Rectangle 2"/>
          <p:cNvSpPr/>
          <p:nvPr/>
        </p:nvSpPr>
        <p:spPr>
          <a:xfrm>
            <a:off x="731520" y="1325880"/>
            <a:ext cx="10728655" cy="3657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463040"/>
            <a:ext cx="10728655"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350" b="1">
                <a:solidFill>
                  <a:srgbClr val="1E3A8A"/>
                </a:solidFill>
              </a:defRPr>
            </a:pPr>
            <a:r>
              <a:t>Thời gian ghi chép sổ sách: Trước áp dụng [10 - 12 giờ/tuần]  —&gt;  Sau áp dụng [1.5 - 2 giờ/tuần]  |  KẾT QUẢ: GIẢM 83.3%</a:t>
            </a:r>
          </a:p>
          <a:p>
            <a:pPr>
              <a:defRPr sz="1100">
                <a:solidFill>
                  <a:srgbClr val="475569"/>
                </a:solidFill>
              </a:defRPr>
            </a:pPr>
            <a:r>
              <a:t>Ý nghĩa thực tiễn: Giải phóng hoàn toàn sức lao động ngoài giờ cho giáo viên mầm non.</a:t>
            </a:r>
          </a:p>
        </p:txBody>
      </p:sp>
      <p:sp>
        <p:nvSpPr>
          <p:cNvPr id="5" name="Rounded Rectangle 4"/>
          <p:cNvSpPr/>
          <p:nvPr/>
        </p:nvSpPr>
        <p:spPr>
          <a:xfrm>
            <a:off x="731520" y="2560320"/>
            <a:ext cx="10728655"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350" b="1">
                <a:solidFill>
                  <a:srgbClr val="1E3A8A"/>
                </a:solidFill>
              </a:defRPr>
            </a:pPr>
            <a:r>
              <a:t>Trẻ có hồ sơ số cá nhân hóa: Trước áp dụng [0%]  —&gt;  Sau áp dụng [100%]  |  KẾT QUẢ: ĐẠT 100%</a:t>
            </a:r>
          </a:p>
          <a:p>
            <a:pPr>
              <a:defRPr sz="1100">
                <a:solidFill>
                  <a:srgbClr val="475569"/>
                </a:solidFill>
              </a:defRPr>
            </a:pPr>
            <a:r>
              <a:t>Ý nghĩa thực tiễn: Mọi đứa trẻ đều được theo dõi vi mô liên tục theo 5 lĩnh vực.</a:t>
            </a:r>
          </a:p>
        </p:txBody>
      </p:sp>
      <p:sp>
        <p:nvSpPr>
          <p:cNvPr id="6" name="Rounded Rectangle 5"/>
          <p:cNvSpPr/>
          <p:nvPr/>
        </p:nvSpPr>
        <p:spPr>
          <a:xfrm>
            <a:off x="731520" y="3657600"/>
            <a:ext cx="10728655"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350" b="1">
                <a:solidFill>
                  <a:srgbClr val="1E3A8A"/>
                </a:solidFill>
              </a:defRPr>
            </a:pPr>
            <a:r>
              <a:t>Tỷ lệ phụ huynh tương tác: Trước áp dụng [38.5%]  —&gt;  Sau áp dụng [94.7%]  |  KẾT QUẢ: TĂNG GẤP 2.5 LẦN</a:t>
            </a:r>
          </a:p>
          <a:p>
            <a:pPr>
              <a:defRPr sz="1100">
                <a:solidFill>
                  <a:srgbClr val="475569"/>
                </a:solidFill>
              </a:defRPr>
            </a:pPr>
            <a:r>
              <a:t>Ý nghĩa thực tiễn: Phụ huynh chủ động trao đổi và chia sẻ hình ảnh tiến bộ của con.</a:t>
            </a:r>
          </a:p>
        </p:txBody>
      </p:sp>
      <p:sp>
        <p:nvSpPr>
          <p:cNvPr id="7" name="Rounded Rectangle 6"/>
          <p:cNvSpPr/>
          <p:nvPr/>
        </p:nvSpPr>
        <p:spPr>
          <a:xfrm>
            <a:off x="731520" y="4754879"/>
            <a:ext cx="10728655"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350" b="1">
                <a:solidFill>
                  <a:srgbClr val="1E3A8A"/>
                </a:solidFill>
              </a:defRPr>
            </a:pPr>
            <a:r>
              <a:t>Phụ huynh thực hành tại nhà: Trước áp dụng [22.0%]  —&gt;  Sau áp dụng [86.3%]  |  KẾT QUẢ: TĂNG GẦN 4 LẦN</a:t>
            </a:r>
          </a:p>
          <a:p>
            <a:pPr>
              <a:defRPr sz="1100">
                <a:solidFill>
                  <a:srgbClr val="475569"/>
                </a:solidFill>
              </a:defRPr>
            </a:pPr>
            <a:r>
              <a:t>Ý nghĩa thực tiễn: Cha mẹ thường xuyên áp dụng trò chơi AI gợi ý mỗi buổi tối.</a:t>
            </a:r>
          </a:p>
        </p:txBody>
      </p:sp>
      <p:pic>
        <p:nvPicPr>
          <p:cNvPr id="8" name="Picture 7" descr="footer_banner.png"/>
          <p:cNvPicPr>
            <a:picLocks noChangeAspect="1"/>
          </p:cNvPicPr>
          <p:nvPr/>
        </p:nvPicPr>
        <p:blipFill>
          <a:blip r:embed="rId1"/>
          <a:stretch>
            <a:fillRect/>
          </a:stretch>
        </p:blipFill>
        <p:spPr>
          <a:xfrm>
            <a:off x="0" y="6080760"/>
            <a:ext cx="12191695" cy="77724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731520" y="320040"/>
            <a:ext cx="10698480" cy="1005840"/>
          </a:xfrm>
          <a:prstGeom prst="rect">
            <a:avLst/>
          </a:prstGeom>
          <a:noFill/>
        </p:spPr>
        <p:txBody>
          <a:bodyPr wrap="square" lIns="0" tIns="0" rIns="0" bIns="0">
            <a:spAutoFit/>
          </a:bodyPr>
          <a:lstStyle/>
          <a:p>
            <a:pPr>
              <a:defRPr sz="1100" b="1">
                <a:solidFill>
                  <a:srgbClr val="2563EB"/>
                </a:solidFill>
              </a:defRPr>
            </a:pPr>
            <a:r>
              <a:t>BẢNG A: KHỐI MẦM NON &amp; TIỂU HỌC | TRƯỜNG MN PHÚC SƠN B</a:t>
            </a:r>
          </a:p>
          <a:p>
            <a:pPr>
              <a:defRPr sz="2100" b="1">
                <a:solidFill>
                  <a:srgbClr val="0F172A"/>
                </a:solidFill>
              </a:defRPr>
            </a:pPr>
            <a:r>
              <a:t>TÁC ĐỘNG XÃ HỘI &amp; TIẾNG NÓI TỪ NGƯỜI TRONG CUỘC</a:t>
            </a:r>
          </a:p>
        </p:txBody>
      </p:sp>
      <p:sp>
        <p:nvSpPr>
          <p:cNvPr id="3" name="Rectangle 2"/>
          <p:cNvSpPr/>
          <p:nvPr/>
        </p:nvSpPr>
        <p:spPr>
          <a:xfrm>
            <a:off x="731520" y="1325880"/>
            <a:ext cx="10728655" cy="3657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463040"/>
            <a:ext cx="10728655" cy="1280160"/>
          </a:xfrm>
          <a:prstGeom prst="roundRect">
            <a:avLst/>
          </a:prstGeom>
          <a:solidFill>
            <a:srgbClr val="F8FAFC"/>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50" b="1">
                <a:solidFill>
                  <a:srgbClr val="2563EB"/>
                </a:solidFill>
              </a:defRPr>
            </a:pPr>
            <a:r>
              <a:t>CÔ GIÁO CHỦ TRÌ LỚP MẪU GIÁO LỚN</a:t>
            </a:r>
          </a:p>
          <a:p>
            <a:pPr>
              <a:defRPr sz="1200" i="1">
                <a:solidFill>
                  <a:srgbClr val="0F172A"/>
                </a:solidFill>
              </a:defRPr>
            </a:pPr>
            <a:r>
              <a:t>“Từ ngày ứng dụng KID-CONNECT AI, tôi không còn phải thức đến 11 giờ đêm để hoàn thành sổ sách theo dõi trẻ. Tôi có thêm thời gian quý báu để nghỉ ngơi và nghiên cứu các đồ dùng dạy học sáng tạo cho các con ngày hôm sau!”</a:t>
            </a:r>
          </a:p>
        </p:txBody>
      </p:sp>
      <p:sp>
        <p:nvSpPr>
          <p:cNvPr id="5" name="Rounded Rectangle 4"/>
          <p:cNvSpPr/>
          <p:nvPr/>
        </p:nvSpPr>
        <p:spPr>
          <a:xfrm>
            <a:off x="731520" y="2926080"/>
            <a:ext cx="10728655" cy="1280160"/>
          </a:xfrm>
          <a:prstGeom prst="roundRect">
            <a:avLst/>
          </a:prstGeom>
          <a:solidFill>
            <a:srgbClr val="F8FAFC"/>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50" b="1">
                <a:solidFill>
                  <a:srgbClr val="2563EB"/>
                </a:solidFill>
              </a:defRPr>
            </a:pPr>
            <a:r>
              <a:t>ĐẠI DIỆN PHỤ HUYNH HỌC SINH LỚP 5 TUỔI</a:t>
            </a:r>
          </a:p>
          <a:p>
            <a:pPr>
              <a:defRPr sz="1200" i="1">
                <a:solidFill>
                  <a:srgbClr val="0F172A"/>
                </a:solidFill>
              </a:defRPr>
            </a:pPr>
            <a:r>
              <a:t>“Mỗi tuần nhận được tấm thẻ nhật ký sắc màu của con, vợ chồng tôi xúc động lắm. Đọc lời gợi ý của cô giáo, chúng tôi biết ngay tối nay nên chơi gì cùng con. Con háo hức kể chuyện ở lớp hơn hẳn!”</a:t>
            </a:r>
          </a:p>
        </p:txBody>
      </p:sp>
      <p:sp>
        <p:nvSpPr>
          <p:cNvPr id="6" name="Rounded Rectangle 5"/>
          <p:cNvSpPr/>
          <p:nvPr/>
        </p:nvSpPr>
        <p:spPr>
          <a:xfrm>
            <a:off x="731520" y="4389120"/>
            <a:ext cx="10728655" cy="1280160"/>
          </a:xfrm>
          <a:prstGeom prst="roundRect">
            <a:avLst/>
          </a:prstGeom>
          <a:solidFill>
            <a:srgbClr val="F8FAFC"/>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50" b="1">
                <a:solidFill>
                  <a:srgbClr val="2563EB"/>
                </a:solidFill>
              </a:defRPr>
            </a:pPr>
            <a:r>
              <a:t>HIỆU TRƯỞNG TRƯỜNG MẦM NON PHÚC SƠN B</a:t>
            </a:r>
          </a:p>
          <a:p>
            <a:pPr>
              <a:defRPr sz="1200" i="1">
                <a:solidFill>
                  <a:srgbClr val="0F172A"/>
                </a:solidFill>
              </a:defRPr>
            </a:pPr>
            <a:r>
              <a:t>“Dự án là bước chuyển đổi số thiết thực, nhân văn và có tính lan tỏa rất cao. Không tốn kém kinh phí, giải quyết đúng khó khăn lớn nhất của nhà giáo, xứng đáng nhân rộng ra toàn xã và toàn huyện!”</a:t>
            </a:r>
          </a:p>
        </p:txBody>
      </p:sp>
      <p:pic>
        <p:nvPicPr>
          <p:cNvPr id="7" name="Picture 6" descr="footer_banner.png"/>
          <p:cNvPicPr>
            <a:picLocks noChangeAspect="1"/>
          </p:cNvPicPr>
          <p:nvPr/>
        </p:nvPicPr>
        <p:blipFill>
          <a:blip r:embed="rId1"/>
          <a:stretch>
            <a:fillRect/>
          </a:stretch>
        </p:blipFill>
        <p:spPr>
          <a:xfrm>
            <a:off x="0" y="6080760"/>
            <a:ext cx="12191695" cy="77724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731520" y="320040"/>
            <a:ext cx="10698480" cy="1005840"/>
          </a:xfrm>
          <a:prstGeom prst="rect">
            <a:avLst/>
          </a:prstGeom>
          <a:noFill/>
        </p:spPr>
        <p:txBody>
          <a:bodyPr wrap="square" lIns="0" tIns="0" rIns="0" bIns="0">
            <a:spAutoFit/>
          </a:bodyPr>
          <a:lstStyle/>
          <a:p>
            <a:pPr>
              <a:defRPr sz="1100" b="1">
                <a:solidFill>
                  <a:srgbClr val="2563EB"/>
                </a:solidFill>
              </a:defRPr>
            </a:pPr>
            <a:r>
              <a:t>BẢNG A: KHỐI MẦM NON &amp; TIỂU HỌC | TRƯỜNG MN PHÚC SƠN B</a:t>
            </a:r>
          </a:p>
          <a:p>
            <a:pPr>
              <a:defRPr sz="2100" b="1">
                <a:solidFill>
                  <a:srgbClr val="0F172A"/>
                </a:solidFill>
              </a:defRPr>
            </a:pPr>
            <a:r>
              <a:t>ỨNG DỤNG AI CÓ TRÁCH NHIỆM (RESPONSIBLE AI)</a:t>
            </a:r>
          </a:p>
        </p:txBody>
      </p:sp>
      <p:sp>
        <p:nvSpPr>
          <p:cNvPr id="3" name="Rectangle 2"/>
          <p:cNvSpPr/>
          <p:nvPr/>
        </p:nvSpPr>
        <p:spPr>
          <a:xfrm>
            <a:off x="731520" y="1325880"/>
            <a:ext cx="10728655" cy="3657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463040"/>
            <a:ext cx="10728655" cy="12801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350" b="1">
                <a:solidFill>
                  <a:srgbClr val="10B981"/>
                </a:solidFill>
              </a:defRPr>
            </a:pPr>
            <a:r>
              <a:t>Nguyên tắc 1: Bảo vệ quyền riêng tư &amp; Ẩn danh dữ liệu (Data Anonymization)</a:t>
            </a:r>
          </a:p>
          <a:p>
            <a:pPr>
              <a:defRPr sz="1200">
                <a:solidFill>
                  <a:srgbClr val="334155"/>
                </a:solidFill>
              </a:defRPr>
            </a:pPr>
            <a:r>
              <a:t>Khi đưa thông tin lên AI phân tích, hệ thống chỉ sử dụng mã số hoặc tên viết tắt của trẻ (Bé N., Bé A.). Tuyệt đối không nhập họ tên đầy đủ, ngày sinh, địa chỉ nhà riêng lên các công cụ trực tuyến.</a:t>
            </a:r>
          </a:p>
        </p:txBody>
      </p:sp>
      <p:sp>
        <p:nvSpPr>
          <p:cNvPr id="5" name="Rounded Rectangle 4"/>
          <p:cNvSpPr/>
          <p:nvPr/>
        </p:nvSpPr>
        <p:spPr>
          <a:xfrm>
            <a:off x="731520" y="2926080"/>
            <a:ext cx="10728655" cy="12801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350" b="1">
                <a:solidFill>
                  <a:srgbClr val="10B981"/>
                </a:solidFill>
              </a:defRPr>
            </a:pPr>
            <a:r>
              <a:t>Nguyên tắc 2: Tuân thủ Luật Trẻ em 2016 về bản quyền hình ảnh</a:t>
            </a:r>
          </a:p>
          <a:p>
            <a:pPr>
              <a:defRPr sz="1200">
                <a:solidFill>
                  <a:srgbClr val="334155"/>
                </a:solidFill>
              </a:defRPr>
            </a:pPr>
            <a:r>
              <a:t>100% hình ảnh và video tư liệu sử dụng trong dự án đều có phiếu đồng thuận (Consent Form) có chữ ký của cha mẹ học sinh trước khi thực hiện.</a:t>
            </a:r>
          </a:p>
        </p:txBody>
      </p:sp>
      <p:sp>
        <p:nvSpPr>
          <p:cNvPr id="6" name="Rounded Rectangle 5"/>
          <p:cNvSpPr/>
          <p:nvPr/>
        </p:nvSpPr>
        <p:spPr>
          <a:xfrm>
            <a:off x="731520" y="4389120"/>
            <a:ext cx="10728655" cy="12801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350" b="1">
                <a:solidFill>
                  <a:srgbClr val="10B981"/>
                </a:solidFill>
              </a:defRPr>
            </a:pPr>
            <a:r>
              <a:t>Nguyên tắc 3: Quyền kiểm duyệt sư phạm tối cao của nhà giáo</a:t>
            </a:r>
          </a:p>
          <a:p>
            <a:pPr>
              <a:defRPr sz="1200">
                <a:solidFill>
                  <a:srgbClr val="334155"/>
                </a:solidFill>
              </a:defRPr>
            </a:pPr>
            <a:r>
              <a:t>Khẳng định AI chỉ đóng vai trò 'Trợ lý gợi ý câu từ'. Cô giáo luôn là người đọc duyệt, chỉnh sửa cuối cùng và chịu trách nhiệm cao nhất về mọi nhận xét gửi đến gia đình.</a:t>
            </a:r>
          </a:p>
        </p:txBody>
      </p:sp>
      <p:pic>
        <p:nvPicPr>
          <p:cNvPr id="7" name="Picture 6" descr="footer_banner.png"/>
          <p:cNvPicPr>
            <a:picLocks noChangeAspect="1"/>
          </p:cNvPicPr>
          <p:nvPr/>
        </p:nvPicPr>
        <p:blipFill>
          <a:blip r:embed="rId1"/>
          <a:stretch>
            <a:fillRect/>
          </a:stretch>
        </p:blipFill>
        <p:spPr>
          <a:xfrm>
            <a:off x="0" y="6080760"/>
            <a:ext cx="12191695" cy="77724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731520" y="320040"/>
            <a:ext cx="10698480" cy="1005840"/>
          </a:xfrm>
          <a:prstGeom prst="rect">
            <a:avLst/>
          </a:prstGeom>
          <a:noFill/>
        </p:spPr>
        <p:txBody>
          <a:bodyPr wrap="square" lIns="0" tIns="0" rIns="0" bIns="0">
            <a:spAutoFit/>
          </a:bodyPr>
          <a:lstStyle/>
          <a:p>
            <a:pPr>
              <a:defRPr sz="1100" b="1">
                <a:solidFill>
                  <a:srgbClr val="2563EB"/>
                </a:solidFill>
              </a:defRPr>
            </a:pPr>
            <a:r>
              <a:t>BẢNG A: KHỐI MẦM NON &amp; TIỂU HỌC | TRƯỜNG MN PHÚC SƠN B</a:t>
            </a:r>
          </a:p>
          <a:p>
            <a:pPr>
              <a:defRPr sz="2100" b="1">
                <a:solidFill>
                  <a:srgbClr val="0F172A"/>
                </a:solidFill>
              </a:defRPr>
            </a:pPr>
            <a:r>
              <a:t>TÍNH BỀN VỮNG VÀ KHẢ NĂNG NHÂN RỘNG TOÀN DIỆN</a:t>
            </a:r>
          </a:p>
        </p:txBody>
      </p:sp>
      <p:sp>
        <p:nvSpPr>
          <p:cNvPr id="3" name="Rectangle 2"/>
          <p:cNvSpPr/>
          <p:nvPr/>
        </p:nvSpPr>
        <p:spPr>
          <a:xfrm>
            <a:off x="731520" y="1325880"/>
            <a:ext cx="10728655" cy="36576"/>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463040"/>
            <a:ext cx="5212080" cy="438912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50" b="1">
                <a:solidFill>
                  <a:srgbClr val="1E3A8A"/>
                </a:solidFill>
              </a:defRPr>
            </a:pPr>
            <a:r>
              <a:t>TÍNH BỀN VỮNG (SUSTAINABILITY)</a:t>
            </a:r>
          </a:p>
          <a:p>
            <a:pPr>
              <a:defRPr sz="1250">
                <a:solidFill>
                  <a:srgbClr val="334155"/>
                </a:solidFill>
              </a:defRPr>
            </a:pPr>
            <a:br/>
            <a:r>
              <a:t>• Chi phí vận hành 0 đồng: Tận dụng tài khoản Canva for Education miễn phí cho giáo viên, phiên bản ChatGPT/Claude miễn phí.</a:t>
            </a:r>
            <a:br/>
            <a:br/>
            <a:r>
              <a:t>• Không cần đầu tư phần cứng: Hoạt động trơn tru trên mọi smartphone cá nhân của giáo viên và máy tính trường học.</a:t>
            </a:r>
            <a:br/>
            <a:br/>
            <a:r>
              <a:t>• Tương thích 100% với Chương trình GDMN hiện hành của Bộ GD&amp;ĐT.</a:t>
            </a:r>
          </a:p>
        </p:txBody>
      </p:sp>
      <p:sp>
        <p:nvSpPr>
          <p:cNvPr id="5" name="Rounded Rectangle 4"/>
          <p:cNvSpPr/>
          <p:nvPr/>
        </p:nvSpPr>
        <p:spPr>
          <a:xfrm>
            <a:off x="6217920" y="1463040"/>
            <a:ext cx="5212080" cy="438912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50" b="1">
                <a:solidFill>
                  <a:srgbClr val="2563EB"/>
                </a:solidFill>
              </a:defRPr>
            </a:pPr>
            <a:r>
              <a:t>KHẢ NĂNG NHÂN RỘNG (SCALABILITY)</a:t>
            </a:r>
          </a:p>
          <a:p>
            <a:pPr>
              <a:defRPr sz="1250">
                <a:solidFill>
                  <a:srgbClr val="334155"/>
                </a:solidFill>
              </a:defRPr>
            </a:pPr>
            <a:br/>
            <a:r>
              <a:t>• Đã xây dựng E-book cẩm nang: 'Quy trình 3 bước ứng dụng Trợ lý AI cho giáo viên mầm non'.</a:t>
            </a:r>
            <a:br/>
            <a:br/>
            <a:r>
              <a:t>• Thời gian đào tạo siêu ngắn: Chỉ cần 30 phút tập huấn trong buổi sinh hoạt chuyên môn là giáo viên mọi độ tuổi đều thực hành được.</a:t>
            </a:r>
            <a:br/>
            <a:br/>
            <a:r>
              <a:t>• Tiềm năng áp dụng cho 100% trường mầm non trên toàn địa bàn xã Phúc Sơn, toàn huyện và các tỉnh thành.</a:t>
            </a:r>
          </a:p>
        </p:txBody>
      </p:sp>
      <p:pic>
        <p:nvPicPr>
          <p:cNvPr id="6" name="Picture 5" descr="footer_banner.png"/>
          <p:cNvPicPr>
            <a:picLocks noChangeAspect="1"/>
          </p:cNvPicPr>
          <p:nvPr/>
        </p:nvPicPr>
        <p:blipFill>
          <a:blip r:embed="rId1"/>
          <a:stretch>
            <a:fillRect/>
          </a:stretch>
        </p:blipFill>
        <p:spPr>
          <a:xfrm>
            <a:off x="0" y="6080760"/>
            <a:ext cx="12191695" cy="77724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371600" y="822960"/>
            <a:ext cx="9448495" cy="4754880"/>
          </a:xfrm>
          <a:prstGeom prst="round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3000" b="1">
                <a:solidFill>
                  <a:srgbClr val="1E3A8A"/>
                </a:solidFill>
              </a:defRPr>
            </a:pPr>
            <a:r>
              <a:t>KID-CONNECT AI</a:t>
            </a:r>
          </a:p>
          <a:p>
            <a:pPr algn="ctr">
              <a:defRPr sz="1500" b="1">
                <a:solidFill>
                  <a:srgbClr val="2563EB"/>
                </a:solidFill>
              </a:defRPr>
            </a:pPr>
            <a:r>
              <a:t>CÔNG NGHỆ NÂNG BƯỚC YÊU THƯƠNG — CÙNG BÉ KIẾN TẠO TƯƠNG LAI SỐ!</a:t>
            </a:r>
            <a:br/>
          </a:p>
          <a:p>
            <a:pPr algn="ctr">
              <a:defRPr sz="1350">
                <a:solidFill>
                  <a:srgbClr val="334155"/>
                </a:solidFill>
              </a:defRPr>
            </a:pPr>
            <a:r>
              <a:t>Xin trân trọng cảm ơn Hội đồng Giám khảo &amp; Ban Tổ chức:</a:t>
            </a:r>
            <a:br/>
            <a:r>
              <a:t>Cục Nhà giáo và Cán bộ Quản lý Giáo dục (Bộ GD&amp;ĐT)</a:t>
            </a:r>
            <a:br/>
            <a:r>
              <a:t>Đại học RMIT Việt Nam</a:t>
            </a:r>
            <a:br/>
            <a:r>
              <a:t>UBND Xã Phúc Sơn &amp; Trường Mầm non Phúc Sơn B</a:t>
            </a:r>
          </a:p>
          <a:p>
            <a:pPr algn="ctr">
              <a:defRPr sz="1150" i="1">
                <a:solidFill>
                  <a:srgbClr val="64748B"/>
                </a:solidFill>
              </a:defRPr>
            </a:pPr>
            <a:br/>
            <a:r>
              <a:t>Website nộp bài: www.ieeai.net/giaithuong   |   Email liên hệ: [Email Giáo viên / Trường MN]</a:t>
            </a:r>
          </a:p>
        </p:txBody>
      </p:sp>
      <p:pic>
        <p:nvPicPr>
          <p:cNvPr id="4" name="Picture 3" descr="footer_banner.png"/>
          <p:cNvPicPr>
            <a:picLocks noChangeAspect="1"/>
          </p:cNvPicPr>
          <p:nvPr/>
        </p:nvPicPr>
        <p:blipFill>
          <a:blip r:embed="rId1"/>
          <a:stretch>
            <a:fillRect/>
          </a:stretch>
        </p:blipFill>
        <p:spPr>
          <a:xfrm>
            <a:off x="0" y="6080760"/>
            <a:ext cx="12191695" cy="77724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8687</Words>
  <Application>WPS Presentation</Application>
  <PresentationFormat>On-screen Show (4:3)</PresentationFormat>
  <Paragraphs>134</Paragraphs>
  <Slides>12</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12</vt:i4>
      </vt:variant>
    </vt:vector>
  </HeadingPairs>
  <TitlesOfParts>
    <vt:vector size="20" baseType="lpstr">
      <vt:lpstr>Arial</vt:lpstr>
      <vt:lpstr>SimSun</vt:lpstr>
      <vt:lpstr>Wingdings</vt:lpstr>
      <vt:lpstr>Arial</vt:lpstr>
      <vt:lpstr>Calibri</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dc:description>generated using python-pptx</dc:description>
  <cp:lastModifiedBy>PC</cp:lastModifiedBy>
  <cp:revision>2</cp:revision>
  <dcterms:created xsi:type="dcterms:W3CDTF">2013-01-27T09:14:00Z</dcterms:created>
  <dcterms:modified xsi:type="dcterms:W3CDTF">2026-10-14T03:23:31Z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1033-12.1.0.29162</vt:lpwstr>
  </property>
  <property fmtid="{D5CDD505-2E9C-101B-9397-08002B2CF9AE}" pid="3" name="ICV">
    <vt:lpwstr>6600BABF6EF64E1D958A923529DC510C_12</vt:lpwstr>
  </property>
</Properties>
</file>